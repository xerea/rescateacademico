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60" r:id="rId2"/>
    <p:sldId id="256" r:id="rId3"/>
    <p:sldId id="257" r:id="rId4"/>
    <p:sldId id="258" r:id="rId5"/>
    <p:sldId id="259" r:id="rId6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11948" autoAdjust="0"/>
    <p:restoredTop sz="94658"/>
  </p:normalViewPr>
  <p:slideViewPr>
    <p:cSldViewPr snapToGrid="0">
      <p:cViewPr varScale="1">
        <p:scale>
          <a:sx n="42" d="100"/>
          <a:sy n="42" d="100"/>
        </p:scale>
        <p:origin x="-144" y="15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370B63-2A60-7DEA-0647-01BB254F96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1D39BB-099C-C8A2-5A3D-65D3613BA7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2A15F4-6B25-4DA1-EF29-11C844DD57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7E84B2-12DC-D48F-13FB-788855EC29D8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263362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jpeg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DA0150-EE0B-068F-605B-0A8AF4430B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Rectangle 75">
            <a:extLst>
              <a:ext uri="{FF2B5EF4-FFF2-40B4-BE49-F238E27FC236}">
                <a16:creationId xmlns:a16="http://schemas.microsoft.com/office/drawing/2014/main" id="{98B08DD6-0CB1-0354-5017-8946487B425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01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9A789E5-1A91-A83B-310C-01D279FB822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01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001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9EDA1B2-A621-91D3-2744-9E451F3F9091}"/>
              </a:ext>
            </a:extLst>
          </p:cNvPr>
          <p:cNvSpPr>
            <a:spLocks noGrp="1"/>
          </p:cNvSpPr>
          <p:nvPr/>
        </p:nvSpPr>
        <p:spPr>
          <a:xfrm>
            <a:off x="685800" y="1028700"/>
            <a:ext cx="9525" cy="4762500"/>
          </a:xfrm>
          <a:prstGeom prst="rect">
            <a:avLst/>
          </a:prstGeom>
          <a:solidFill>
            <a:srgbClr val="1730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822BD1C-AAF6-CFDA-07F7-561AA7D4B6CE}"/>
              </a:ext>
            </a:extLst>
          </p:cNvPr>
          <p:cNvSpPr>
            <a:spLocks noGrp="1"/>
          </p:cNvSpPr>
          <p:nvPr/>
        </p:nvSpPr>
        <p:spPr>
          <a:xfrm>
            <a:off x="1371600" y="1028700"/>
            <a:ext cx="9525" cy="4762500"/>
          </a:xfrm>
          <a:prstGeom prst="rect">
            <a:avLst/>
          </a:prstGeom>
          <a:solidFill>
            <a:srgbClr val="1730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5F4563E-8886-28AB-76B1-93E0A6C1A83D}"/>
              </a:ext>
            </a:extLst>
          </p:cNvPr>
          <p:cNvSpPr>
            <a:spLocks noGrp="1"/>
          </p:cNvSpPr>
          <p:nvPr/>
        </p:nvSpPr>
        <p:spPr>
          <a:xfrm>
            <a:off x="2057400" y="1028700"/>
            <a:ext cx="9525" cy="4762500"/>
          </a:xfrm>
          <a:prstGeom prst="rect">
            <a:avLst/>
          </a:prstGeom>
          <a:solidFill>
            <a:srgbClr val="1730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5EB2D31-46E9-AA7F-1441-D9647432F3D9}"/>
              </a:ext>
            </a:extLst>
          </p:cNvPr>
          <p:cNvSpPr>
            <a:spLocks noGrp="1"/>
          </p:cNvSpPr>
          <p:nvPr/>
        </p:nvSpPr>
        <p:spPr>
          <a:xfrm>
            <a:off x="2743200" y="1028700"/>
            <a:ext cx="9525" cy="4762500"/>
          </a:xfrm>
          <a:prstGeom prst="rect">
            <a:avLst/>
          </a:prstGeom>
          <a:solidFill>
            <a:srgbClr val="1730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B53BD55-1C17-0F12-4920-D81AA1DC339C}"/>
              </a:ext>
            </a:extLst>
          </p:cNvPr>
          <p:cNvSpPr>
            <a:spLocks noGrp="1"/>
          </p:cNvSpPr>
          <p:nvPr/>
        </p:nvSpPr>
        <p:spPr>
          <a:xfrm>
            <a:off x="3429000" y="1028700"/>
            <a:ext cx="9525" cy="4762500"/>
          </a:xfrm>
          <a:prstGeom prst="rect">
            <a:avLst/>
          </a:prstGeom>
          <a:solidFill>
            <a:srgbClr val="1730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A2163D5-953B-0B0D-A547-8CD4FC1ACF41}"/>
              </a:ext>
            </a:extLst>
          </p:cNvPr>
          <p:cNvSpPr>
            <a:spLocks noGrp="1"/>
          </p:cNvSpPr>
          <p:nvPr/>
        </p:nvSpPr>
        <p:spPr>
          <a:xfrm>
            <a:off x="4114800" y="1028700"/>
            <a:ext cx="9525" cy="4762500"/>
          </a:xfrm>
          <a:prstGeom prst="rect">
            <a:avLst/>
          </a:prstGeom>
          <a:solidFill>
            <a:srgbClr val="1730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95760AF-045A-5CEB-F9E3-E60FD883F260}"/>
              </a:ext>
            </a:extLst>
          </p:cNvPr>
          <p:cNvSpPr>
            <a:spLocks noGrp="1"/>
          </p:cNvSpPr>
          <p:nvPr/>
        </p:nvSpPr>
        <p:spPr>
          <a:xfrm>
            <a:off x="4800600" y="1028700"/>
            <a:ext cx="9525" cy="4762500"/>
          </a:xfrm>
          <a:prstGeom prst="rect">
            <a:avLst/>
          </a:prstGeom>
          <a:solidFill>
            <a:srgbClr val="1730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026D9A3-CB53-5FA6-9100-5CBACF8599ED}"/>
              </a:ext>
            </a:extLst>
          </p:cNvPr>
          <p:cNvSpPr>
            <a:spLocks noGrp="1"/>
          </p:cNvSpPr>
          <p:nvPr/>
        </p:nvSpPr>
        <p:spPr>
          <a:xfrm>
            <a:off x="5486400" y="1028700"/>
            <a:ext cx="9525" cy="4762500"/>
          </a:xfrm>
          <a:prstGeom prst="rect">
            <a:avLst/>
          </a:prstGeom>
          <a:solidFill>
            <a:srgbClr val="1730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71ECC1F-4FA5-0BB9-2852-06C1823CC8F5}"/>
              </a:ext>
            </a:extLst>
          </p:cNvPr>
          <p:cNvSpPr>
            <a:spLocks noGrp="1"/>
          </p:cNvSpPr>
          <p:nvPr/>
        </p:nvSpPr>
        <p:spPr>
          <a:xfrm>
            <a:off x="6172200" y="1028700"/>
            <a:ext cx="9525" cy="4762500"/>
          </a:xfrm>
          <a:prstGeom prst="rect">
            <a:avLst/>
          </a:prstGeom>
          <a:solidFill>
            <a:srgbClr val="1730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821756D-2232-3DD4-3DE9-F78D2E720498}"/>
              </a:ext>
            </a:extLst>
          </p:cNvPr>
          <p:cNvSpPr>
            <a:spLocks noGrp="1"/>
          </p:cNvSpPr>
          <p:nvPr/>
        </p:nvSpPr>
        <p:spPr>
          <a:xfrm>
            <a:off x="6858000" y="1028700"/>
            <a:ext cx="9525" cy="4762500"/>
          </a:xfrm>
          <a:prstGeom prst="rect">
            <a:avLst/>
          </a:prstGeom>
          <a:solidFill>
            <a:srgbClr val="1730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2AEB475-8DCF-ECFB-1AE2-D0E74766D858}"/>
              </a:ext>
            </a:extLst>
          </p:cNvPr>
          <p:cNvSpPr>
            <a:spLocks noGrp="1"/>
          </p:cNvSpPr>
          <p:nvPr/>
        </p:nvSpPr>
        <p:spPr>
          <a:xfrm>
            <a:off x="7543800" y="1028700"/>
            <a:ext cx="9525" cy="4762500"/>
          </a:xfrm>
          <a:prstGeom prst="rect">
            <a:avLst/>
          </a:prstGeom>
          <a:solidFill>
            <a:srgbClr val="1730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363A9FF-3432-54D6-CBB0-3A9512125B1A}"/>
              </a:ext>
            </a:extLst>
          </p:cNvPr>
          <p:cNvSpPr>
            <a:spLocks noGrp="1"/>
          </p:cNvSpPr>
          <p:nvPr/>
        </p:nvSpPr>
        <p:spPr>
          <a:xfrm>
            <a:off x="8229600" y="1028700"/>
            <a:ext cx="9525" cy="4762500"/>
          </a:xfrm>
          <a:prstGeom prst="rect">
            <a:avLst/>
          </a:prstGeom>
          <a:solidFill>
            <a:srgbClr val="1730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E6C4225-9EF5-73BA-5B31-2C1AB2F55826}"/>
              </a:ext>
            </a:extLst>
          </p:cNvPr>
          <p:cNvSpPr>
            <a:spLocks noGrp="1"/>
          </p:cNvSpPr>
          <p:nvPr/>
        </p:nvSpPr>
        <p:spPr>
          <a:xfrm>
            <a:off x="8915400" y="1028700"/>
            <a:ext cx="9525" cy="4762500"/>
          </a:xfrm>
          <a:prstGeom prst="rect">
            <a:avLst/>
          </a:prstGeom>
          <a:solidFill>
            <a:srgbClr val="1730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01A91FF-0F32-6491-9C04-4FACEA77EEAF}"/>
              </a:ext>
            </a:extLst>
          </p:cNvPr>
          <p:cNvSpPr>
            <a:spLocks noGrp="1"/>
          </p:cNvSpPr>
          <p:nvPr/>
        </p:nvSpPr>
        <p:spPr>
          <a:xfrm>
            <a:off x="9601200" y="1028700"/>
            <a:ext cx="9525" cy="4762500"/>
          </a:xfrm>
          <a:prstGeom prst="rect">
            <a:avLst/>
          </a:prstGeom>
          <a:solidFill>
            <a:srgbClr val="1730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C8D7FCC-E60C-FAD9-A001-DAC7C462DB9F}"/>
              </a:ext>
            </a:extLst>
          </p:cNvPr>
          <p:cNvSpPr>
            <a:spLocks noGrp="1"/>
          </p:cNvSpPr>
          <p:nvPr/>
        </p:nvSpPr>
        <p:spPr>
          <a:xfrm>
            <a:off x="10287000" y="1028700"/>
            <a:ext cx="9525" cy="4762500"/>
          </a:xfrm>
          <a:prstGeom prst="rect">
            <a:avLst/>
          </a:prstGeom>
          <a:solidFill>
            <a:srgbClr val="1730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C9EDF4F-1D4A-3191-E245-039F9A0085B8}"/>
              </a:ext>
            </a:extLst>
          </p:cNvPr>
          <p:cNvSpPr>
            <a:spLocks noGrp="1"/>
          </p:cNvSpPr>
          <p:nvPr/>
        </p:nvSpPr>
        <p:spPr>
          <a:xfrm>
            <a:off x="10972800" y="1028700"/>
            <a:ext cx="9525" cy="4762500"/>
          </a:xfrm>
          <a:prstGeom prst="rect">
            <a:avLst/>
          </a:prstGeom>
          <a:solidFill>
            <a:srgbClr val="1730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2A60E83-D5EE-AA22-0D25-102B81E191BA}"/>
              </a:ext>
            </a:extLst>
          </p:cNvPr>
          <p:cNvSpPr>
            <a:spLocks noGrp="1"/>
          </p:cNvSpPr>
          <p:nvPr/>
        </p:nvSpPr>
        <p:spPr>
          <a:xfrm>
            <a:off x="552450" y="1066800"/>
            <a:ext cx="11087100" cy="9525"/>
          </a:xfrm>
          <a:prstGeom prst="rect">
            <a:avLst/>
          </a:prstGeom>
          <a:solidFill>
            <a:srgbClr val="1730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71DFEBD-3086-60A3-1CFB-036EBA64502E}"/>
              </a:ext>
            </a:extLst>
          </p:cNvPr>
          <p:cNvSpPr>
            <a:spLocks noGrp="1"/>
          </p:cNvSpPr>
          <p:nvPr/>
        </p:nvSpPr>
        <p:spPr>
          <a:xfrm>
            <a:off x="552450" y="1752600"/>
            <a:ext cx="11087100" cy="9525"/>
          </a:xfrm>
          <a:prstGeom prst="rect">
            <a:avLst/>
          </a:prstGeom>
          <a:solidFill>
            <a:srgbClr val="1730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B75F70B-0C9E-F6B3-ABC3-492C64326DF4}"/>
              </a:ext>
            </a:extLst>
          </p:cNvPr>
          <p:cNvSpPr>
            <a:spLocks noGrp="1"/>
          </p:cNvSpPr>
          <p:nvPr/>
        </p:nvSpPr>
        <p:spPr>
          <a:xfrm>
            <a:off x="552450" y="2438400"/>
            <a:ext cx="11087100" cy="9525"/>
          </a:xfrm>
          <a:prstGeom prst="rect">
            <a:avLst/>
          </a:prstGeom>
          <a:solidFill>
            <a:srgbClr val="1730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ED5E312-AB60-0280-E44F-AA73CD696B55}"/>
              </a:ext>
            </a:extLst>
          </p:cNvPr>
          <p:cNvSpPr>
            <a:spLocks noGrp="1"/>
          </p:cNvSpPr>
          <p:nvPr/>
        </p:nvSpPr>
        <p:spPr>
          <a:xfrm>
            <a:off x="552450" y="3124200"/>
            <a:ext cx="11087100" cy="9525"/>
          </a:xfrm>
          <a:prstGeom prst="rect">
            <a:avLst/>
          </a:prstGeom>
          <a:solidFill>
            <a:srgbClr val="1730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6CA25BF-E057-DD06-4C62-71602716818D}"/>
              </a:ext>
            </a:extLst>
          </p:cNvPr>
          <p:cNvSpPr>
            <a:spLocks noGrp="1"/>
          </p:cNvSpPr>
          <p:nvPr/>
        </p:nvSpPr>
        <p:spPr>
          <a:xfrm>
            <a:off x="552450" y="3810000"/>
            <a:ext cx="11087100" cy="9525"/>
          </a:xfrm>
          <a:prstGeom prst="rect">
            <a:avLst/>
          </a:prstGeom>
          <a:solidFill>
            <a:srgbClr val="1730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CF7E8B9-1206-A20F-046E-53D05DD3887B}"/>
              </a:ext>
            </a:extLst>
          </p:cNvPr>
          <p:cNvSpPr>
            <a:spLocks noGrp="1"/>
          </p:cNvSpPr>
          <p:nvPr/>
        </p:nvSpPr>
        <p:spPr>
          <a:xfrm>
            <a:off x="552450" y="4495800"/>
            <a:ext cx="11087100" cy="9525"/>
          </a:xfrm>
          <a:prstGeom prst="rect">
            <a:avLst/>
          </a:prstGeom>
          <a:solidFill>
            <a:srgbClr val="1730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3ABD151-2DDE-FABA-70E4-AE4352308F87}"/>
              </a:ext>
            </a:extLst>
          </p:cNvPr>
          <p:cNvSpPr>
            <a:spLocks noGrp="1"/>
          </p:cNvSpPr>
          <p:nvPr/>
        </p:nvSpPr>
        <p:spPr>
          <a:xfrm>
            <a:off x="552450" y="5181600"/>
            <a:ext cx="11087100" cy="9525"/>
          </a:xfrm>
          <a:prstGeom prst="rect">
            <a:avLst/>
          </a:prstGeom>
          <a:solidFill>
            <a:srgbClr val="1730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E13852C-A01C-D0AE-EC0A-E1954E526F00}"/>
              </a:ext>
            </a:extLst>
          </p:cNvPr>
          <p:cNvSpPr>
            <a:spLocks noGrp="1"/>
          </p:cNvSpPr>
          <p:nvPr/>
        </p:nvSpPr>
        <p:spPr>
          <a:xfrm>
            <a:off x="552450" y="5867400"/>
            <a:ext cx="11087100" cy="9525"/>
          </a:xfrm>
          <a:prstGeom prst="rect">
            <a:avLst/>
          </a:prstGeom>
          <a:solidFill>
            <a:srgbClr val="1730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27" name="kicker-1-marker">
            <a:extLst>
              <a:ext uri="{FF2B5EF4-FFF2-40B4-BE49-F238E27FC236}">
                <a16:creationId xmlns:a16="http://schemas.microsoft.com/office/drawing/2014/main" id="{691D1C4F-27CC-25AB-1A7B-FFC80A3C1070}"/>
              </a:ext>
            </a:extLst>
          </p:cNvPr>
          <p:cNvSpPr>
            <a:spLocks noGrp="1"/>
          </p:cNvSpPr>
          <p:nvPr/>
        </p:nvSpPr>
        <p:spPr>
          <a:xfrm>
            <a:off x="552450" y="419100"/>
            <a:ext cx="114300" cy="114300"/>
          </a:xfrm>
          <a:prstGeom prst="rect">
            <a:avLst/>
          </a:prstGeom>
          <a:solidFill>
            <a:srgbClr val="2DD4B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28" name="kicker-1-label">
            <a:extLst>
              <a:ext uri="{FF2B5EF4-FFF2-40B4-BE49-F238E27FC236}">
                <a16:creationId xmlns:a16="http://schemas.microsoft.com/office/drawing/2014/main" id="{5633DE8D-8FA4-3B27-A851-17EA3AE83700}"/>
              </a:ext>
            </a:extLst>
          </p:cNvPr>
          <p:cNvSpPr>
            <a:spLocks noGrp="1"/>
          </p:cNvSpPr>
          <p:nvPr/>
        </p:nvSpPr>
        <p:spPr>
          <a:xfrm>
            <a:off x="781050" y="381000"/>
            <a:ext cx="3238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750" b="1">
                <a:solidFill>
                  <a:srgbClr val="9EB3B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9EB3BB"/>
                </a:solidFill>
                <a:latin typeface="Aptos"/>
                <a:ea typeface="Aptos"/>
                <a:cs typeface="Aptos"/>
              </a:rPr>
              <a:t>FUNDAMENTOS VISUALES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C6443DF-BBB1-026A-7C32-A4B77307860C}"/>
              </a:ext>
            </a:extLst>
          </p:cNvPr>
          <p:cNvSpPr>
            <a:spLocks noGrp="1"/>
          </p:cNvSpPr>
          <p:nvPr/>
        </p:nvSpPr>
        <p:spPr>
          <a:xfrm>
            <a:off x="828675" y="1707671"/>
            <a:ext cx="7515223" cy="261757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F4FAFB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GB" sz="2550" b="1" dirty="0">
                <a:solidFill>
                  <a:srgbClr val="F4FAFB"/>
                </a:solidFill>
                <a:latin typeface="Aptos Display"/>
                <a:ea typeface="Aptos Display"/>
                <a:cs typeface="Aptos Display"/>
              </a:rPr>
              <a:t>Instituto Politécnico Nacional </a:t>
            </a:r>
          </a:p>
          <a:p>
            <a:pPr algn="l">
              <a:defRPr sz="2550" b="1">
                <a:solidFill>
                  <a:srgbClr val="F4FAFB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GB" sz="2550" b="1" dirty="0">
                <a:solidFill>
                  <a:srgbClr val="F4FAFB"/>
                </a:solidFill>
                <a:latin typeface="Aptos Display"/>
                <a:ea typeface="Aptos Display"/>
                <a:cs typeface="Aptos Display"/>
              </a:rPr>
              <a:t>Centro de </a:t>
            </a:r>
            <a:r>
              <a:rPr lang="en-GB" sz="2550" b="1" dirty="0" err="1">
                <a:solidFill>
                  <a:srgbClr val="F4FAFB"/>
                </a:solidFill>
                <a:latin typeface="Aptos Display"/>
                <a:ea typeface="Aptos Display"/>
                <a:cs typeface="Aptos Display"/>
              </a:rPr>
              <a:t>Estudios</a:t>
            </a:r>
            <a:r>
              <a:rPr lang="en-GB" sz="2550" b="1" dirty="0">
                <a:solidFill>
                  <a:srgbClr val="F4FAFB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lang="en-GB" sz="2550" b="1" dirty="0" err="1">
                <a:solidFill>
                  <a:srgbClr val="F4FAFB"/>
                </a:solidFill>
                <a:latin typeface="Aptos Display"/>
                <a:ea typeface="Aptos Display"/>
                <a:cs typeface="Aptos Display"/>
              </a:rPr>
              <a:t>Científicos</a:t>
            </a:r>
            <a:r>
              <a:rPr lang="en-GB" sz="2550" b="1" dirty="0">
                <a:solidFill>
                  <a:srgbClr val="F4FAFB"/>
                </a:solidFill>
                <a:latin typeface="Aptos Display"/>
                <a:ea typeface="Aptos Display"/>
                <a:cs typeface="Aptos Display"/>
              </a:rPr>
              <a:t> y </a:t>
            </a:r>
            <a:r>
              <a:rPr lang="en-GB" sz="2550" b="1" dirty="0" err="1">
                <a:solidFill>
                  <a:srgbClr val="F4FAFB"/>
                </a:solidFill>
                <a:latin typeface="Aptos Display"/>
                <a:ea typeface="Aptos Display"/>
                <a:cs typeface="Aptos Display"/>
              </a:rPr>
              <a:t>Tecnológicos</a:t>
            </a:r>
            <a:r>
              <a:rPr lang="en-GB" sz="2550" b="1" dirty="0">
                <a:solidFill>
                  <a:srgbClr val="F4FAFB"/>
                </a:solidFill>
                <a:latin typeface="Aptos Display"/>
                <a:ea typeface="Aptos Display"/>
                <a:cs typeface="Aptos Display"/>
              </a:rPr>
              <a:t> Nº13 Ricardo Flores Magon</a:t>
            </a:r>
            <a:endParaRPr sz="2550" b="1" dirty="0">
              <a:solidFill>
                <a:srgbClr val="F4FAFB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1016BF1-E507-5DC8-7270-33BD8782FF9D}"/>
              </a:ext>
            </a:extLst>
          </p:cNvPr>
          <p:cNvSpPr>
            <a:spLocks noGrp="1"/>
          </p:cNvSpPr>
          <p:nvPr/>
        </p:nvSpPr>
        <p:spPr>
          <a:xfrm>
            <a:off x="552450" y="6238875"/>
            <a:ext cx="11087100" cy="9525"/>
          </a:xfrm>
          <a:prstGeom prst="rect">
            <a:avLst/>
          </a:prstGeom>
          <a:solidFill>
            <a:srgbClr val="2443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0968E13-EBE8-9F18-D040-75FAEE26D9DB}"/>
              </a:ext>
            </a:extLst>
          </p:cNvPr>
          <p:cNvSpPr>
            <a:spLocks noGrp="1"/>
          </p:cNvSpPr>
          <p:nvPr/>
        </p:nvSpPr>
        <p:spPr>
          <a:xfrm>
            <a:off x="552450" y="6381750"/>
            <a:ext cx="4191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9EB3B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EB3BB"/>
                </a:solidFill>
                <a:latin typeface="Aptos"/>
                <a:ea typeface="Aptos"/>
                <a:cs typeface="Aptos"/>
              </a:rPr>
              <a:t>Realidad virtual e inmersiva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5F893E6-8451-BD8A-072E-8496DF29DB47}"/>
              </a:ext>
            </a:extLst>
          </p:cNvPr>
          <p:cNvSpPr>
            <a:spLocks noGrp="1"/>
          </p:cNvSpPr>
          <p:nvPr/>
        </p:nvSpPr>
        <p:spPr>
          <a:xfrm>
            <a:off x="11144250" y="6334125"/>
            <a:ext cx="4953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200" b="1">
                <a:solidFill>
                  <a:srgbClr val="9EB3B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9EB3B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6B69865-E652-F08D-25CB-93A5F1947A3C}"/>
              </a:ext>
            </a:extLst>
          </p:cNvPr>
          <p:cNvSpPr>
            <a:spLocks noGrp="1"/>
          </p:cNvSpPr>
          <p:nvPr/>
        </p:nvSpPr>
        <p:spPr>
          <a:xfrm>
            <a:off x="1095375" y="4914900"/>
            <a:ext cx="57150" cy="1200150"/>
          </a:xfrm>
          <a:prstGeom prst="rect">
            <a:avLst/>
          </a:prstGeom>
          <a:solidFill>
            <a:srgbClr val="2DD4B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EED52BA-6362-86D6-70B6-0F94BC4293CD}"/>
              </a:ext>
            </a:extLst>
          </p:cNvPr>
          <p:cNvSpPr>
            <a:spLocks noGrp="1"/>
          </p:cNvSpPr>
          <p:nvPr/>
        </p:nvSpPr>
        <p:spPr>
          <a:xfrm>
            <a:off x="1228725" y="5267325"/>
            <a:ext cx="2095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>
              <a:defRPr sz="2550" b="1">
                <a:solidFill>
                  <a:srgbClr val="F4FAFB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GB" sz="1200" b="1" dirty="0" err="1">
                <a:solidFill>
                  <a:srgbClr val="F4FAFB"/>
                </a:solidFill>
                <a:latin typeface="Aptos Display"/>
                <a:ea typeface="Aptos Display"/>
                <a:cs typeface="Aptos Display"/>
              </a:rPr>
              <a:t>Alumno</a:t>
            </a:r>
            <a:r>
              <a:rPr lang="en-GB" sz="1200" b="1" dirty="0">
                <a:solidFill>
                  <a:srgbClr val="F4FAFB"/>
                </a:solidFill>
                <a:latin typeface="Aptos Display"/>
                <a:ea typeface="Aptos Display"/>
                <a:cs typeface="Aptos Display"/>
              </a:rPr>
              <a:t>: Sergio Esteban Alanis Pacheco</a:t>
            </a:r>
          </a:p>
          <a:p>
            <a:pPr>
              <a:defRPr sz="2550" b="1">
                <a:solidFill>
                  <a:srgbClr val="F4FAFB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GB" sz="1200" b="1" dirty="0">
                <a:solidFill>
                  <a:srgbClr val="F4FAFB"/>
                </a:solidFill>
                <a:latin typeface="Aptos Display"/>
                <a:ea typeface="Aptos Display"/>
                <a:cs typeface="Aptos Display"/>
              </a:rPr>
              <a:t>Grupo: 6IV8</a:t>
            </a:r>
          </a:p>
        </p:txBody>
      </p:sp>
      <p:pic>
        <p:nvPicPr>
          <p:cNvPr id="1030" name="Picture 6" descr="Escudo I.P.N. – Sociedad, Tecnología y Deontología.">
            <a:extLst>
              <a:ext uri="{FF2B5EF4-FFF2-40B4-BE49-F238E27FC236}">
                <a16:creationId xmlns:a16="http://schemas.microsoft.com/office/drawing/2014/main" id="{82ADBB78-7609-C537-3E85-F2DFDBB0D0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000" y="1343025"/>
            <a:ext cx="2018666" cy="21628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02103AFC-D25A-387E-1C50-D176996EC1BF}"/>
              </a:ext>
            </a:extLst>
          </p:cNvPr>
          <p:cNvSpPr>
            <a:spLocks noGrp="1"/>
          </p:cNvSpPr>
          <p:nvPr/>
        </p:nvSpPr>
        <p:spPr>
          <a:xfrm>
            <a:off x="854075" y="3409950"/>
            <a:ext cx="7515223" cy="261757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F4FAFB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GB" sz="2550" b="1" dirty="0" err="1">
                <a:solidFill>
                  <a:srgbClr val="F4FAFB"/>
                </a:solidFill>
                <a:latin typeface="Aptos Display"/>
                <a:ea typeface="Aptos Display"/>
                <a:cs typeface="Aptos Display"/>
              </a:rPr>
              <a:t>Presentacion</a:t>
            </a:r>
            <a:r>
              <a:rPr lang="en-GB" sz="2550" b="1" dirty="0">
                <a:solidFill>
                  <a:srgbClr val="F4FAFB"/>
                </a:solidFill>
                <a:latin typeface="Aptos Display"/>
                <a:ea typeface="Aptos Display"/>
                <a:cs typeface="Aptos Display"/>
              </a:rPr>
              <a:t> Clase 2</a:t>
            </a:r>
            <a:endParaRPr sz="2550" b="1" dirty="0">
              <a:solidFill>
                <a:srgbClr val="F4FAFB"/>
              </a:solidFill>
              <a:latin typeface="Aptos Display"/>
              <a:ea typeface="Aptos Display"/>
              <a:cs typeface="Aptos Display"/>
            </a:endParaRPr>
          </a:p>
        </p:txBody>
      </p:sp>
    </p:spTree>
    <p:extLst>
      <p:ext uri="{BB962C8B-B14F-4D97-AF65-F5344CB8AC3E}">
        <p14:creationId xmlns:p14="http://schemas.microsoft.com/office/powerpoint/2010/main" val="38416816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Rectangle 75">
            <a:extLst>
              <a:ext uri="{FF2B5EF4-FFF2-40B4-BE49-F238E27FC236}">
                <a16:creationId xmlns:a16="http://schemas.microsoft.com/office/drawing/2014/main" id="{80C25742-CF05-468C-B6E6-444C2924C25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01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5CB8AF2-288D-472B-BBE8-C32A643F876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01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8FCB1D2-092F-4878-ADFF-94D67E1589AD}"/>
              </a:ext>
            </a:extLst>
          </p:cNvPr>
          <p:cNvSpPr>
            <a:spLocks noGrp="1"/>
          </p:cNvSpPr>
          <p:nvPr/>
        </p:nvSpPr>
        <p:spPr>
          <a:xfrm>
            <a:off x="685800" y="1028700"/>
            <a:ext cx="9525" cy="4762500"/>
          </a:xfrm>
          <a:prstGeom prst="rect">
            <a:avLst/>
          </a:prstGeom>
          <a:solidFill>
            <a:srgbClr val="1730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1FD2618-2670-4E26-91DB-1C63CC2A95E2}"/>
              </a:ext>
            </a:extLst>
          </p:cNvPr>
          <p:cNvSpPr>
            <a:spLocks noGrp="1"/>
          </p:cNvSpPr>
          <p:nvPr/>
        </p:nvSpPr>
        <p:spPr>
          <a:xfrm>
            <a:off x="1371600" y="1028700"/>
            <a:ext cx="9525" cy="4762500"/>
          </a:xfrm>
          <a:prstGeom prst="rect">
            <a:avLst/>
          </a:prstGeom>
          <a:solidFill>
            <a:srgbClr val="1730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85D89E3-3F12-41B2-BBDA-8D222D151E48}"/>
              </a:ext>
            </a:extLst>
          </p:cNvPr>
          <p:cNvSpPr>
            <a:spLocks noGrp="1"/>
          </p:cNvSpPr>
          <p:nvPr/>
        </p:nvSpPr>
        <p:spPr>
          <a:xfrm>
            <a:off x="2057400" y="1028700"/>
            <a:ext cx="9525" cy="4762500"/>
          </a:xfrm>
          <a:prstGeom prst="rect">
            <a:avLst/>
          </a:prstGeom>
          <a:solidFill>
            <a:srgbClr val="1730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2EC5E83-9D13-4CB3-876A-8B58A4F15A00}"/>
              </a:ext>
            </a:extLst>
          </p:cNvPr>
          <p:cNvSpPr>
            <a:spLocks noGrp="1"/>
          </p:cNvSpPr>
          <p:nvPr/>
        </p:nvSpPr>
        <p:spPr>
          <a:xfrm>
            <a:off x="2743200" y="1028700"/>
            <a:ext cx="9525" cy="4762500"/>
          </a:xfrm>
          <a:prstGeom prst="rect">
            <a:avLst/>
          </a:prstGeom>
          <a:solidFill>
            <a:srgbClr val="1730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9590AF9-425F-4883-89F8-FCA4BA8A7713}"/>
              </a:ext>
            </a:extLst>
          </p:cNvPr>
          <p:cNvSpPr>
            <a:spLocks noGrp="1"/>
          </p:cNvSpPr>
          <p:nvPr/>
        </p:nvSpPr>
        <p:spPr>
          <a:xfrm>
            <a:off x="3429000" y="1028700"/>
            <a:ext cx="9525" cy="4762500"/>
          </a:xfrm>
          <a:prstGeom prst="rect">
            <a:avLst/>
          </a:prstGeom>
          <a:solidFill>
            <a:srgbClr val="1730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358BFD8-9627-4B13-BC3F-7D54F6455D2B}"/>
              </a:ext>
            </a:extLst>
          </p:cNvPr>
          <p:cNvSpPr>
            <a:spLocks noGrp="1"/>
          </p:cNvSpPr>
          <p:nvPr/>
        </p:nvSpPr>
        <p:spPr>
          <a:xfrm>
            <a:off x="4114800" y="1028700"/>
            <a:ext cx="9525" cy="4762500"/>
          </a:xfrm>
          <a:prstGeom prst="rect">
            <a:avLst/>
          </a:prstGeom>
          <a:solidFill>
            <a:srgbClr val="1730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1861549-F8D7-4949-B10D-8C7338FE2F99}"/>
              </a:ext>
            </a:extLst>
          </p:cNvPr>
          <p:cNvSpPr>
            <a:spLocks noGrp="1"/>
          </p:cNvSpPr>
          <p:nvPr/>
        </p:nvSpPr>
        <p:spPr>
          <a:xfrm>
            <a:off x="4800600" y="1028700"/>
            <a:ext cx="9525" cy="4762500"/>
          </a:xfrm>
          <a:prstGeom prst="rect">
            <a:avLst/>
          </a:prstGeom>
          <a:solidFill>
            <a:srgbClr val="1730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7D10469-5431-4A63-B3D3-48582138783B}"/>
              </a:ext>
            </a:extLst>
          </p:cNvPr>
          <p:cNvSpPr>
            <a:spLocks noGrp="1"/>
          </p:cNvSpPr>
          <p:nvPr/>
        </p:nvSpPr>
        <p:spPr>
          <a:xfrm>
            <a:off x="5486400" y="1028700"/>
            <a:ext cx="9525" cy="4762500"/>
          </a:xfrm>
          <a:prstGeom prst="rect">
            <a:avLst/>
          </a:prstGeom>
          <a:solidFill>
            <a:srgbClr val="1730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6021E49-93C5-4B01-BB75-A20E1E778411}"/>
              </a:ext>
            </a:extLst>
          </p:cNvPr>
          <p:cNvSpPr>
            <a:spLocks noGrp="1"/>
          </p:cNvSpPr>
          <p:nvPr/>
        </p:nvSpPr>
        <p:spPr>
          <a:xfrm>
            <a:off x="6172200" y="1028700"/>
            <a:ext cx="9525" cy="4762500"/>
          </a:xfrm>
          <a:prstGeom prst="rect">
            <a:avLst/>
          </a:prstGeom>
          <a:solidFill>
            <a:srgbClr val="1730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A99F25D-149A-43D8-9DA9-9C3773726189}"/>
              </a:ext>
            </a:extLst>
          </p:cNvPr>
          <p:cNvSpPr>
            <a:spLocks noGrp="1"/>
          </p:cNvSpPr>
          <p:nvPr/>
        </p:nvSpPr>
        <p:spPr>
          <a:xfrm>
            <a:off x="6858000" y="1028700"/>
            <a:ext cx="9525" cy="4762500"/>
          </a:xfrm>
          <a:prstGeom prst="rect">
            <a:avLst/>
          </a:prstGeom>
          <a:solidFill>
            <a:srgbClr val="1730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1E38912-880F-4895-B1C6-28A488E2BC7C}"/>
              </a:ext>
            </a:extLst>
          </p:cNvPr>
          <p:cNvSpPr>
            <a:spLocks noGrp="1"/>
          </p:cNvSpPr>
          <p:nvPr/>
        </p:nvSpPr>
        <p:spPr>
          <a:xfrm>
            <a:off x="7543800" y="1028700"/>
            <a:ext cx="9525" cy="4762500"/>
          </a:xfrm>
          <a:prstGeom prst="rect">
            <a:avLst/>
          </a:prstGeom>
          <a:solidFill>
            <a:srgbClr val="1730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D3AB8ED-D783-4694-AC7E-4290D9799D56}"/>
              </a:ext>
            </a:extLst>
          </p:cNvPr>
          <p:cNvSpPr>
            <a:spLocks noGrp="1"/>
          </p:cNvSpPr>
          <p:nvPr/>
        </p:nvSpPr>
        <p:spPr>
          <a:xfrm>
            <a:off x="8229600" y="1028700"/>
            <a:ext cx="9525" cy="4762500"/>
          </a:xfrm>
          <a:prstGeom prst="rect">
            <a:avLst/>
          </a:prstGeom>
          <a:solidFill>
            <a:srgbClr val="1730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40D4297-3B4D-45E9-BEA9-FD512FE230B3}"/>
              </a:ext>
            </a:extLst>
          </p:cNvPr>
          <p:cNvSpPr>
            <a:spLocks noGrp="1"/>
          </p:cNvSpPr>
          <p:nvPr/>
        </p:nvSpPr>
        <p:spPr>
          <a:xfrm>
            <a:off x="8915400" y="1028700"/>
            <a:ext cx="9525" cy="4762500"/>
          </a:xfrm>
          <a:prstGeom prst="rect">
            <a:avLst/>
          </a:prstGeom>
          <a:solidFill>
            <a:srgbClr val="1730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64B561C-E28A-4DCB-A9EE-AF61A4019B0B}"/>
              </a:ext>
            </a:extLst>
          </p:cNvPr>
          <p:cNvSpPr>
            <a:spLocks noGrp="1"/>
          </p:cNvSpPr>
          <p:nvPr/>
        </p:nvSpPr>
        <p:spPr>
          <a:xfrm>
            <a:off x="9601200" y="1028700"/>
            <a:ext cx="9525" cy="4762500"/>
          </a:xfrm>
          <a:prstGeom prst="rect">
            <a:avLst/>
          </a:prstGeom>
          <a:solidFill>
            <a:srgbClr val="1730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C8310E6-96EC-417F-A91E-23962C096DF7}"/>
              </a:ext>
            </a:extLst>
          </p:cNvPr>
          <p:cNvSpPr>
            <a:spLocks noGrp="1"/>
          </p:cNvSpPr>
          <p:nvPr/>
        </p:nvSpPr>
        <p:spPr>
          <a:xfrm>
            <a:off x="10287000" y="1028700"/>
            <a:ext cx="9525" cy="4762500"/>
          </a:xfrm>
          <a:prstGeom prst="rect">
            <a:avLst/>
          </a:prstGeom>
          <a:solidFill>
            <a:srgbClr val="1730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9D33967-5EA2-4840-B09A-D59E97AC1E56}"/>
              </a:ext>
            </a:extLst>
          </p:cNvPr>
          <p:cNvSpPr>
            <a:spLocks noGrp="1"/>
          </p:cNvSpPr>
          <p:nvPr/>
        </p:nvSpPr>
        <p:spPr>
          <a:xfrm>
            <a:off x="10972800" y="1028700"/>
            <a:ext cx="9525" cy="4762500"/>
          </a:xfrm>
          <a:prstGeom prst="rect">
            <a:avLst/>
          </a:prstGeom>
          <a:solidFill>
            <a:srgbClr val="1730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9357019-D739-41E9-84C3-70DFD3F64DA9}"/>
              </a:ext>
            </a:extLst>
          </p:cNvPr>
          <p:cNvSpPr>
            <a:spLocks noGrp="1"/>
          </p:cNvSpPr>
          <p:nvPr/>
        </p:nvSpPr>
        <p:spPr>
          <a:xfrm>
            <a:off x="552450" y="1066800"/>
            <a:ext cx="11087100" cy="9525"/>
          </a:xfrm>
          <a:prstGeom prst="rect">
            <a:avLst/>
          </a:prstGeom>
          <a:solidFill>
            <a:srgbClr val="1730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4B0BDB1-017A-42CF-8562-EA0169FAA601}"/>
              </a:ext>
            </a:extLst>
          </p:cNvPr>
          <p:cNvSpPr>
            <a:spLocks noGrp="1"/>
          </p:cNvSpPr>
          <p:nvPr/>
        </p:nvSpPr>
        <p:spPr>
          <a:xfrm>
            <a:off x="552450" y="1752600"/>
            <a:ext cx="11087100" cy="9525"/>
          </a:xfrm>
          <a:prstGeom prst="rect">
            <a:avLst/>
          </a:prstGeom>
          <a:solidFill>
            <a:srgbClr val="1730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BF330B4-9039-47CD-8EC7-8B646568852B}"/>
              </a:ext>
            </a:extLst>
          </p:cNvPr>
          <p:cNvSpPr>
            <a:spLocks noGrp="1"/>
          </p:cNvSpPr>
          <p:nvPr/>
        </p:nvSpPr>
        <p:spPr>
          <a:xfrm>
            <a:off x="552450" y="2438400"/>
            <a:ext cx="11087100" cy="9525"/>
          </a:xfrm>
          <a:prstGeom prst="rect">
            <a:avLst/>
          </a:prstGeom>
          <a:solidFill>
            <a:srgbClr val="1730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85C62D8-4741-46BF-9F17-C9D37C6D1462}"/>
              </a:ext>
            </a:extLst>
          </p:cNvPr>
          <p:cNvSpPr>
            <a:spLocks noGrp="1"/>
          </p:cNvSpPr>
          <p:nvPr/>
        </p:nvSpPr>
        <p:spPr>
          <a:xfrm>
            <a:off x="552450" y="3124200"/>
            <a:ext cx="11087100" cy="9525"/>
          </a:xfrm>
          <a:prstGeom prst="rect">
            <a:avLst/>
          </a:prstGeom>
          <a:solidFill>
            <a:srgbClr val="1730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C11A6AE-BB59-4A58-A25A-E06856743EA8}"/>
              </a:ext>
            </a:extLst>
          </p:cNvPr>
          <p:cNvSpPr>
            <a:spLocks noGrp="1"/>
          </p:cNvSpPr>
          <p:nvPr/>
        </p:nvSpPr>
        <p:spPr>
          <a:xfrm>
            <a:off x="552450" y="3810000"/>
            <a:ext cx="11087100" cy="9525"/>
          </a:xfrm>
          <a:prstGeom prst="rect">
            <a:avLst/>
          </a:prstGeom>
          <a:solidFill>
            <a:srgbClr val="1730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70859C9-1D96-4ABA-BF8C-9E7F52427940}"/>
              </a:ext>
            </a:extLst>
          </p:cNvPr>
          <p:cNvSpPr>
            <a:spLocks noGrp="1"/>
          </p:cNvSpPr>
          <p:nvPr/>
        </p:nvSpPr>
        <p:spPr>
          <a:xfrm>
            <a:off x="552450" y="4495800"/>
            <a:ext cx="11087100" cy="9525"/>
          </a:xfrm>
          <a:prstGeom prst="rect">
            <a:avLst/>
          </a:prstGeom>
          <a:solidFill>
            <a:srgbClr val="1730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D63C25B-D82B-4576-8BF7-82CAFCC5E2E0}"/>
              </a:ext>
            </a:extLst>
          </p:cNvPr>
          <p:cNvSpPr>
            <a:spLocks noGrp="1"/>
          </p:cNvSpPr>
          <p:nvPr/>
        </p:nvSpPr>
        <p:spPr>
          <a:xfrm>
            <a:off x="552450" y="5181600"/>
            <a:ext cx="11087100" cy="9525"/>
          </a:xfrm>
          <a:prstGeom prst="rect">
            <a:avLst/>
          </a:prstGeom>
          <a:solidFill>
            <a:srgbClr val="1730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D7CB7B4-9DB6-485D-94A5-A36E8278EC40}"/>
              </a:ext>
            </a:extLst>
          </p:cNvPr>
          <p:cNvSpPr>
            <a:spLocks noGrp="1"/>
          </p:cNvSpPr>
          <p:nvPr/>
        </p:nvSpPr>
        <p:spPr>
          <a:xfrm>
            <a:off x="552450" y="5867400"/>
            <a:ext cx="11087100" cy="9525"/>
          </a:xfrm>
          <a:prstGeom prst="rect">
            <a:avLst/>
          </a:prstGeom>
          <a:solidFill>
            <a:srgbClr val="1730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27" name="kicker-1-marker">
            <a:extLst>
              <a:ext uri="{FF2B5EF4-FFF2-40B4-BE49-F238E27FC236}">
                <a16:creationId xmlns:a16="http://schemas.microsoft.com/office/drawing/2014/main" id="{18ABF93C-F5FC-4046-ABED-91219717C44E}"/>
              </a:ext>
            </a:extLst>
          </p:cNvPr>
          <p:cNvSpPr>
            <a:spLocks noGrp="1"/>
          </p:cNvSpPr>
          <p:nvPr/>
        </p:nvSpPr>
        <p:spPr>
          <a:xfrm>
            <a:off x="552450" y="419100"/>
            <a:ext cx="114300" cy="114300"/>
          </a:xfrm>
          <a:prstGeom prst="rect">
            <a:avLst/>
          </a:prstGeom>
          <a:solidFill>
            <a:srgbClr val="2DD4B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28" name="kicker-1-label">
            <a:extLst>
              <a:ext uri="{FF2B5EF4-FFF2-40B4-BE49-F238E27FC236}">
                <a16:creationId xmlns:a16="http://schemas.microsoft.com/office/drawing/2014/main" id="{DF7F9EA2-0900-424F-8806-B9C4D94E6A1A}"/>
              </a:ext>
            </a:extLst>
          </p:cNvPr>
          <p:cNvSpPr>
            <a:spLocks noGrp="1"/>
          </p:cNvSpPr>
          <p:nvPr/>
        </p:nvSpPr>
        <p:spPr>
          <a:xfrm>
            <a:off x="781050" y="381000"/>
            <a:ext cx="3238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750" b="1">
                <a:solidFill>
                  <a:srgbClr val="9EB3B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9EB3BB"/>
                </a:solidFill>
                <a:latin typeface="Aptos"/>
                <a:ea typeface="Aptos"/>
                <a:cs typeface="Aptos"/>
              </a:rPr>
              <a:t>FUNDAMENTOS VISUALES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3363F7F-BF42-4D57-AAFF-B9025538DEE6}"/>
              </a:ext>
            </a:extLst>
          </p:cNvPr>
          <p:cNvSpPr>
            <a:spLocks noGrp="1"/>
          </p:cNvSpPr>
          <p:nvPr/>
        </p:nvSpPr>
        <p:spPr>
          <a:xfrm>
            <a:off x="552450" y="742950"/>
            <a:ext cx="695325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F4FAF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dirty="0">
                <a:solidFill>
                  <a:srgbClr val="F4FAFB"/>
                </a:solidFill>
                <a:latin typeface="Aptos Display"/>
                <a:ea typeface="Aptos Display"/>
                <a:cs typeface="Aptos Display"/>
              </a:rPr>
              <a:t>La </a:t>
            </a:r>
            <a:r>
              <a:rPr sz="2550" b="1" dirty="0" err="1">
                <a:solidFill>
                  <a:srgbClr val="F4FAFB"/>
                </a:solidFill>
                <a:latin typeface="Aptos Display"/>
                <a:ea typeface="Aptos Display"/>
                <a:cs typeface="Aptos Display"/>
              </a:rPr>
              <a:t>ilusión</a:t>
            </a:r>
            <a:r>
              <a:rPr sz="2550" b="1" dirty="0">
                <a:solidFill>
                  <a:srgbClr val="F4FAFB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550" b="1" dirty="0" err="1">
                <a:solidFill>
                  <a:srgbClr val="F4FAFB"/>
                </a:solidFill>
                <a:latin typeface="Aptos Display"/>
                <a:ea typeface="Aptos Display"/>
                <a:cs typeface="Aptos Display"/>
              </a:rPr>
              <a:t>empieza</a:t>
            </a:r>
            <a:r>
              <a:rPr sz="2550" b="1" dirty="0">
                <a:solidFill>
                  <a:srgbClr val="F4FAFB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550" b="1" dirty="0" err="1">
                <a:solidFill>
                  <a:srgbClr val="F4FAFB"/>
                </a:solidFill>
                <a:latin typeface="Aptos Display"/>
                <a:ea typeface="Aptos Display"/>
                <a:cs typeface="Aptos Display"/>
              </a:rPr>
              <a:t>cuando</a:t>
            </a:r>
            <a:r>
              <a:rPr sz="2550" b="1" dirty="0">
                <a:solidFill>
                  <a:srgbClr val="F4FAFB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550" b="1" dirty="0" err="1">
                <a:solidFill>
                  <a:srgbClr val="F4FAFB"/>
                </a:solidFill>
                <a:latin typeface="Aptos Display"/>
                <a:ea typeface="Aptos Display"/>
                <a:cs typeface="Aptos Display"/>
              </a:rPr>
              <a:t>el</a:t>
            </a:r>
            <a:r>
              <a:rPr sz="2550" b="1" dirty="0">
                <a:solidFill>
                  <a:srgbClr val="F4FAFB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550" b="1" dirty="0" err="1">
                <a:solidFill>
                  <a:srgbClr val="F4FAFB"/>
                </a:solidFill>
                <a:latin typeface="Aptos Display"/>
                <a:ea typeface="Aptos Display"/>
                <a:cs typeface="Aptos Display"/>
              </a:rPr>
              <a:t>entorno</a:t>
            </a:r>
            <a:r>
              <a:rPr sz="2550" b="1" dirty="0">
                <a:solidFill>
                  <a:srgbClr val="F4FAFB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550" b="1" dirty="0" err="1">
                <a:solidFill>
                  <a:srgbClr val="F4FAFB"/>
                </a:solidFill>
                <a:latin typeface="Aptos Display"/>
                <a:ea typeface="Aptos Display"/>
                <a:cs typeface="Aptos Display"/>
              </a:rPr>
              <a:t>responde</a:t>
            </a:r>
            <a:r>
              <a:rPr sz="2550" b="1" dirty="0">
                <a:solidFill>
                  <a:srgbClr val="F4FAFB"/>
                </a:solidFill>
                <a:latin typeface="Aptos Display"/>
                <a:ea typeface="Aptos Display"/>
                <a:cs typeface="Aptos Display"/>
              </a:rPr>
              <a:t> con </a:t>
            </a:r>
            <a:r>
              <a:rPr sz="2550" b="1" dirty="0" err="1">
                <a:solidFill>
                  <a:srgbClr val="F4FAFB"/>
                </a:solidFill>
                <a:latin typeface="Aptos Display"/>
                <a:ea typeface="Aptos Display"/>
                <a:cs typeface="Aptos Display"/>
              </a:rPr>
              <a:t>profundidad</a:t>
            </a:r>
            <a:r>
              <a:rPr sz="2550" b="1" dirty="0">
                <a:solidFill>
                  <a:srgbClr val="F4FAFB"/>
                </a:solidFill>
                <a:latin typeface="Aptos Display"/>
                <a:ea typeface="Aptos Display"/>
                <a:cs typeface="Aptos Display"/>
              </a:rPr>
              <a:t> y </a:t>
            </a:r>
            <a:r>
              <a:rPr sz="2550" b="1" dirty="0" err="1">
                <a:solidFill>
                  <a:srgbClr val="F4FAFB"/>
                </a:solidFill>
                <a:latin typeface="Aptos Display"/>
                <a:ea typeface="Aptos Display"/>
                <a:cs typeface="Aptos Display"/>
              </a:rPr>
              <a:t>conducta</a:t>
            </a:r>
            <a:r>
              <a:rPr sz="2550" b="1" dirty="0">
                <a:solidFill>
                  <a:srgbClr val="F4FAFB"/>
                </a:solidFill>
                <a:latin typeface="Aptos Display"/>
                <a:ea typeface="Aptos Display"/>
                <a:cs typeface="Aptos Display"/>
              </a:rPr>
              <a:t>.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3D892E3-8F86-4E37-A1D9-BC6CF1D340CD}"/>
              </a:ext>
            </a:extLst>
          </p:cNvPr>
          <p:cNvSpPr>
            <a:spLocks noGrp="1"/>
          </p:cNvSpPr>
          <p:nvPr/>
        </p:nvSpPr>
        <p:spPr>
          <a:xfrm>
            <a:off x="552450" y="6238875"/>
            <a:ext cx="11087100" cy="9525"/>
          </a:xfrm>
          <a:prstGeom prst="rect">
            <a:avLst/>
          </a:prstGeom>
          <a:solidFill>
            <a:srgbClr val="2443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5D2DF66-9DCA-4B64-A638-0B9B1A335754}"/>
              </a:ext>
            </a:extLst>
          </p:cNvPr>
          <p:cNvSpPr>
            <a:spLocks noGrp="1"/>
          </p:cNvSpPr>
          <p:nvPr/>
        </p:nvSpPr>
        <p:spPr>
          <a:xfrm>
            <a:off x="552450" y="6381750"/>
            <a:ext cx="4191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9EB3B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EB3BB"/>
                </a:solidFill>
                <a:latin typeface="Aptos"/>
                <a:ea typeface="Aptos"/>
                <a:cs typeface="Aptos"/>
              </a:rPr>
              <a:t>Realidad virtual e inmersiva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0313141-A4AC-4054-8371-5724C92BA249}"/>
              </a:ext>
            </a:extLst>
          </p:cNvPr>
          <p:cNvSpPr>
            <a:spLocks noGrp="1"/>
          </p:cNvSpPr>
          <p:nvPr/>
        </p:nvSpPr>
        <p:spPr>
          <a:xfrm>
            <a:off x="11144250" y="6334125"/>
            <a:ext cx="4953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200" b="1">
                <a:solidFill>
                  <a:srgbClr val="9EB3B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9EB3B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4E9AAAD-63F3-406A-BE26-E528DD3FBD4E}"/>
              </a:ext>
            </a:extLst>
          </p:cNvPr>
          <p:cNvSpPr>
            <a:spLocks noGrp="1"/>
          </p:cNvSpPr>
          <p:nvPr/>
        </p:nvSpPr>
        <p:spPr>
          <a:xfrm>
            <a:off x="552450" y="4810125"/>
            <a:ext cx="3124200" cy="1200150"/>
          </a:xfrm>
          <a:prstGeom prst="rect">
            <a:avLst/>
          </a:prstGeom>
          <a:solidFill>
            <a:srgbClr val="0D1B22"/>
          </a:solidFill>
          <a:ln w="9525">
            <a:solidFill>
              <a:srgbClr val="24434D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EB3E261-3DFC-4498-9A9A-2385D8DC6F2D}"/>
              </a:ext>
            </a:extLst>
          </p:cNvPr>
          <p:cNvSpPr>
            <a:spLocks noGrp="1"/>
          </p:cNvSpPr>
          <p:nvPr/>
        </p:nvSpPr>
        <p:spPr>
          <a:xfrm>
            <a:off x="552450" y="4810125"/>
            <a:ext cx="57150" cy="1200150"/>
          </a:xfrm>
          <a:prstGeom prst="rect">
            <a:avLst/>
          </a:prstGeom>
          <a:solidFill>
            <a:srgbClr val="2DD4B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B79A398-633A-4600-994A-1F422AA34746}"/>
              </a:ext>
            </a:extLst>
          </p:cNvPr>
          <p:cNvSpPr>
            <a:spLocks noGrp="1"/>
          </p:cNvSpPr>
          <p:nvPr/>
        </p:nvSpPr>
        <p:spPr>
          <a:xfrm>
            <a:off x="742950" y="4981575"/>
            <a:ext cx="4381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2DD4B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2DD4BF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21407EF-916C-4D91-B82D-F232AAAC46ED}"/>
              </a:ext>
            </a:extLst>
          </p:cNvPr>
          <p:cNvSpPr>
            <a:spLocks noGrp="1"/>
          </p:cNvSpPr>
          <p:nvPr/>
        </p:nvSpPr>
        <p:spPr>
          <a:xfrm>
            <a:off x="1295400" y="4962525"/>
            <a:ext cx="2095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F4FAF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4FAFB"/>
                </a:solidFill>
                <a:latin typeface="Aptos"/>
                <a:ea typeface="Aptos"/>
                <a:cs typeface="Aptos"/>
              </a:rPr>
              <a:t>Gráficos tridimensionales (3D)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91BC1BD-7BDA-4869-8CD5-E912121CC798}"/>
              </a:ext>
            </a:extLst>
          </p:cNvPr>
          <p:cNvSpPr>
            <a:spLocks noGrp="1"/>
          </p:cNvSpPr>
          <p:nvPr/>
        </p:nvSpPr>
        <p:spPr>
          <a:xfrm>
            <a:off x="1295400" y="5334000"/>
            <a:ext cx="2095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5" b="0">
                <a:solidFill>
                  <a:srgbClr val="9EB3BB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9EB3BB"/>
                </a:solidFill>
                <a:latin typeface="Aptos"/>
                <a:ea typeface="Aptos"/>
                <a:cs typeface="Aptos"/>
              </a:rPr>
              <a:t>Modelos con volumen, perspectiva, luz y textura que hacen que los objetos parezcan ocupar espacio.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D347A39-F56C-4317-83FF-87D74E27B1F7}"/>
              </a:ext>
            </a:extLst>
          </p:cNvPr>
          <p:cNvSpPr>
            <a:spLocks noGrp="1"/>
          </p:cNvSpPr>
          <p:nvPr/>
        </p:nvSpPr>
        <p:spPr>
          <a:xfrm>
            <a:off x="4533900" y="4810125"/>
            <a:ext cx="3124200" cy="1200150"/>
          </a:xfrm>
          <a:prstGeom prst="rect">
            <a:avLst/>
          </a:prstGeom>
          <a:solidFill>
            <a:srgbClr val="0D1B22"/>
          </a:solidFill>
          <a:ln w="9525">
            <a:solidFill>
              <a:srgbClr val="24434D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65838F4-E5C3-47EA-B28F-2BF3F0188596}"/>
              </a:ext>
            </a:extLst>
          </p:cNvPr>
          <p:cNvSpPr>
            <a:spLocks noGrp="1"/>
          </p:cNvSpPr>
          <p:nvPr/>
        </p:nvSpPr>
        <p:spPr>
          <a:xfrm>
            <a:off x="4533900" y="4810125"/>
            <a:ext cx="57150" cy="1200150"/>
          </a:xfrm>
          <a:prstGeom prst="rect">
            <a:avLst/>
          </a:prstGeom>
          <a:solidFill>
            <a:srgbClr val="60A5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85B6D6B-4789-4D1B-A4FD-6547C05A5AE2}"/>
              </a:ext>
            </a:extLst>
          </p:cNvPr>
          <p:cNvSpPr>
            <a:spLocks noGrp="1"/>
          </p:cNvSpPr>
          <p:nvPr/>
        </p:nvSpPr>
        <p:spPr>
          <a:xfrm>
            <a:off x="4724400" y="4981575"/>
            <a:ext cx="4381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60A5FA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60A5FA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F52958F-3D38-4583-B145-707F5361C558}"/>
              </a:ext>
            </a:extLst>
          </p:cNvPr>
          <p:cNvSpPr>
            <a:spLocks noGrp="1"/>
          </p:cNvSpPr>
          <p:nvPr/>
        </p:nvSpPr>
        <p:spPr>
          <a:xfrm>
            <a:off x="5276850" y="4962525"/>
            <a:ext cx="2095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F4FAFB"/>
                </a:solidFill>
                <a:latin typeface="Aptos"/>
                <a:ea typeface="Aptos"/>
                <a:cs typeface="Aptos"/>
              </a:defRPr>
            </a:pPr>
            <a:r>
              <a:rPr sz="1125" b="1" dirty="0" err="1">
                <a:solidFill>
                  <a:srgbClr val="F4FAFB"/>
                </a:solidFill>
                <a:latin typeface="Aptos"/>
                <a:ea typeface="Aptos"/>
                <a:cs typeface="Aptos"/>
              </a:rPr>
              <a:t>Técnicas</a:t>
            </a:r>
            <a:r>
              <a:rPr sz="1125" b="1" dirty="0">
                <a:solidFill>
                  <a:srgbClr val="F4FAFB"/>
                </a:solidFill>
                <a:latin typeface="Aptos"/>
                <a:ea typeface="Aptos"/>
                <a:cs typeface="Aptos"/>
              </a:rPr>
              <a:t> de </a:t>
            </a:r>
            <a:r>
              <a:rPr sz="1125" b="1" dirty="0" err="1">
                <a:solidFill>
                  <a:srgbClr val="F4FAFB"/>
                </a:solidFill>
                <a:latin typeface="Aptos"/>
                <a:ea typeface="Aptos"/>
                <a:cs typeface="Aptos"/>
              </a:rPr>
              <a:t>estereoscopia</a:t>
            </a:r>
            <a:endParaRPr sz="1125" b="1" dirty="0">
              <a:solidFill>
                <a:srgbClr val="F4FAF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EF8B3080-A5A1-480E-A98E-F04B05FD21DD}"/>
              </a:ext>
            </a:extLst>
          </p:cNvPr>
          <p:cNvSpPr>
            <a:spLocks noGrp="1"/>
          </p:cNvSpPr>
          <p:nvPr/>
        </p:nvSpPr>
        <p:spPr>
          <a:xfrm>
            <a:off x="5276850" y="5334000"/>
            <a:ext cx="2095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5" b="0">
                <a:solidFill>
                  <a:srgbClr val="9EB3BB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9EB3BB"/>
                </a:solidFill>
                <a:latin typeface="Aptos"/>
                <a:ea typeface="Aptos"/>
                <a:cs typeface="Aptos"/>
              </a:rPr>
              <a:t>Dos imágenes ligeramente distintas llegan a cada ojo para producir percepción de profundidad.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66ED509-4A68-472B-AD37-83B01A8509FB}"/>
              </a:ext>
            </a:extLst>
          </p:cNvPr>
          <p:cNvSpPr>
            <a:spLocks noGrp="1"/>
          </p:cNvSpPr>
          <p:nvPr/>
        </p:nvSpPr>
        <p:spPr>
          <a:xfrm>
            <a:off x="8515350" y="4810125"/>
            <a:ext cx="3124200" cy="1200150"/>
          </a:xfrm>
          <a:prstGeom prst="rect">
            <a:avLst/>
          </a:prstGeom>
          <a:solidFill>
            <a:srgbClr val="0D1B22"/>
          </a:solidFill>
          <a:ln w="9525">
            <a:solidFill>
              <a:srgbClr val="24434D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9F7CF77-B386-44B3-AA23-DCA0A321F3E6}"/>
              </a:ext>
            </a:extLst>
          </p:cNvPr>
          <p:cNvSpPr>
            <a:spLocks noGrp="1"/>
          </p:cNvSpPr>
          <p:nvPr/>
        </p:nvSpPr>
        <p:spPr>
          <a:xfrm>
            <a:off x="8515350" y="4810125"/>
            <a:ext cx="57150" cy="1200150"/>
          </a:xfrm>
          <a:prstGeom prst="rect">
            <a:avLst/>
          </a:prstGeom>
          <a:solidFill>
            <a:srgbClr val="FB718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A6D98F1-3391-4547-AA94-4C74760D68E3}"/>
              </a:ext>
            </a:extLst>
          </p:cNvPr>
          <p:cNvSpPr>
            <a:spLocks noGrp="1"/>
          </p:cNvSpPr>
          <p:nvPr/>
        </p:nvSpPr>
        <p:spPr>
          <a:xfrm>
            <a:off x="8705850" y="4981575"/>
            <a:ext cx="4381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FB7185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B7185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A1360FAA-6042-4A7C-9DA2-C01B080902AD}"/>
              </a:ext>
            </a:extLst>
          </p:cNvPr>
          <p:cNvSpPr>
            <a:spLocks noGrp="1"/>
          </p:cNvSpPr>
          <p:nvPr/>
        </p:nvSpPr>
        <p:spPr>
          <a:xfrm>
            <a:off x="9258300" y="4962525"/>
            <a:ext cx="2095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F4FAFB"/>
                </a:solidFill>
                <a:latin typeface="Aptos"/>
                <a:ea typeface="Aptos"/>
                <a:cs typeface="Aptos"/>
              </a:defRPr>
            </a:pPr>
            <a:r>
              <a:rPr sz="1125" b="1" dirty="0" err="1">
                <a:solidFill>
                  <a:srgbClr val="F4FAFB"/>
                </a:solidFill>
                <a:latin typeface="Aptos"/>
                <a:ea typeface="Aptos"/>
                <a:cs typeface="Aptos"/>
              </a:rPr>
              <a:t>Simulación</a:t>
            </a:r>
            <a:r>
              <a:rPr sz="1125" b="1" dirty="0">
                <a:solidFill>
                  <a:srgbClr val="F4FAFB"/>
                </a:solidFill>
                <a:latin typeface="Aptos"/>
                <a:ea typeface="Aptos"/>
                <a:cs typeface="Aptos"/>
              </a:rPr>
              <a:t> de </a:t>
            </a:r>
            <a:r>
              <a:rPr sz="1125" b="1" dirty="0" err="1">
                <a:solidFill>
                  <a:srgbClr val="F4FAFB"/>
                </a:solidFill>
                <a:latin typeface="Aptos"/>
                <a:ea typeface="Aptos"/>
                <a:cs typeface="Aptos"/>
              </a:rPr>
              <a:t>comportamiento</a:t>
            </a:r>
            <a:endParaRPr sz="1125" b="1" dirty="0">
              <a:solidFill>
                <a:srgbClr val="F4FAF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893BEF25-7537-436D-B801-3E7E3278079D}"/>
              </a:ext>
            </a:extLst>
          </p:cNvPr>
          <p:cNvSpPr>
            <a:spLocks noGrp="1"/>
          </p:cNvSpPr>
          <p:nvPr/>
        </p:nvSpPr>
        <p:spPr>
          <a:xfrm>
            <a:off x="9258300" y="5334000"/>
            <a:ext cx="2095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5" b="0">
                <a:solidFill>
                  <a:srgbClr val="9EB3BB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9EB3BB"/>
                </a:solidFill>
                <a:latin typeface="Aptos"/>
                <a:ea typeface="Aptos"/>
                <a:cs typeface="Aptos"/>
              </a:rPr>
              <a:t>El sistema calcula reacciones físicas o lógicas para que el mundo virtual actúe de forma creíble.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45524C4A-7B1D-49DC-B875-5D2C1339B021}"/>
              </a:ext>
            </a:extLst>
          </p:cNvPr>
          <p:cNvSpPr>
            <a:spLocks noGrp="1"/>
          </p:cNvSpPr>
          <p:nvPr/>
        </p:nvSpPr>
        <p:spPr>
          <a:xfrm>
            <a:off x="1333500" y="3238500"/>
            <a:ext cx="3771900" cy="9525"/>
          </a:xfrm>
          <a:prstGeom prst="rect">
            <a:avLst/>
          </a:prstGeom>
          <a:solidFill>
            <a:srgbClr val="2443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02349D7B-FAF3-4BBA-8520-9C88683EADEE}"/>
              </a:ext>
            </a:extLst>
          </p:cNvPr>
          <p:cNvSpPr>
            <a:spLocks noGrp="1"/>
          </p:cNvSpPr>
          <p:nvPr/>
        </p:nvSpPr>
        <p:spPr>
          <a:xfrm>
            <a:off x="3257550" y="2019300"/>
            <a:ext cx="9525" cy="1771650"/>
          </a:xfrm>
          <a:prstGeom prst="rect">
            <a:avLst/>
          </a:prstGeom>
          <a:solidFill>
            <a:srgbClr val="2443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pic>
        <p:nvPicPr>
          <p:cNvPr id="2050" name="Picture 2" descr="Software de gráficos 3D - Wikipedia, la enciclopedia libre">
            <a:extLst>
              <a:ext uri="{FF2B5EF4-FFF2-40B4-BE49-F238E27FC236}">
                <a16:creationId xmlns:a16="http://schemas.microsoft.com/office/drawing/2014/main" id="{5BD25615-D80E-E7CB-D795-01D81B33BA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882" y="2247900"/>
            <a:ext cx="3714863" cy="20896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Estereoscopía - Wikipedia, la enciclopedia libre">
            <a:extLst>
              <a:ext uri="{FF2B5EF4-FFF2-40B4-BE49-F238E27FC236}">
                <a16:creationId xmlns:a16="http://schemas.microsoft.com/office/drawing/2014/main" id="{637FE70D-C084-85FE-5DFD-2FA69D8765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6555" y="1519237"/>
            <a:ext cx="2135997" cy="3190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A699164B-EB0A-B0F2-0080-2CC93ECC3A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143125" y="2004988"/>
            <a:ext cx="3210675" cy="1866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187259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angle 67">
            <a:extLst>
              <a:ext uri="{FF2B5EF4-FFF2-40B4-BE49-F238E27FC236}">
                <a16:creationId xmlns:a16="http://schemas.microsoft.com/office/drawing/2014/main" id="{7A8F701A-D7FA-42E4-9D8B-C854FAA23CC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01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001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0FC42BD-B461-4EB6-8029-001F277BB570}"/>
              </a:ext>
            </a:extLst>
          </p:cNvPr>
          <p:cNvSpPr>
            <a:spLocks noGrp="1"/>
          </p:cNvSpPr>
          <p:nvPr/>
        </p:nvSpPr>
        <p:spPr>
          <a:xfrm>
            <a:off x="685800" y="1028700"/>
            <a:ext cx="9525" cy="4762500"/>
          </a:xfrm>
          <a:prstGeom prst="rect">
            <a:avLst/>
          </a:prstGeom>
          <a:solidFill>
            <a:srgbClr val="1730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DA026E0-1D03-4577-A234-3A1E59768A6B}"/>
              </a:ext>
            </a:extLst>
          </p:cNvPr>
          <p:cNvSpPr>
            <a:spLocks noGrp="1"/>
          </p:cNvSpPr>
          <p:nvPr/>
        </p:nvSpPr>
        <p:spPr>
          <a:xfrm>
            <a:off x="1371600" y="1028700"/>
            <a:ext cx="9525" cy="4762500"/>
          </a:xfrm>
          <a:prstGeom prst="rect">
            <a:avLst/>
          </a:prstGeom>
          <a:solidFill>
            <a:srgbClr val="1730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FF6721B-1B1F-4698-B02B-B0B2D0EDBBDA}"/>
              </a:ext>
            </a:extLst>
          </p:cNvPr>
          <p:cNvSpPr>
            <a:spLocks noGrp="1"/>
          </p:cNvSpPr>
          <p:nvPr/>
        </p:nvSpPr>
        <p:spPr>
          <a:xfrm>
            <a:off x="2057400" y="1028700"/>
            <a:ext cx="9525" cy="4762500"/>
          </a:xfrm>
          <a:prstGeom prst="rect">
            <a:avLst/>
          </a:prstGeom>
          <a:solidFill>
            <a:srgbClr val="1730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735E2BA-6F12-4980-82DF-06FC463AAF22}"/>
              </a:ext>
            </a:extLst>
          </p:cNvPr>
          <p:cNvSpPr>
            <a:spLocks noGrp="1"/>
          </p:cNvSpPr>
          <p:nvPr/>
        </p:nvSpPr>
        <p:spPr>
          <a:xfrm>
            <a:off x="2743200" y="1028700"/>
            <a:ext cx="9525" cy="4762500"/>
          </a:xfrm>
          <a:prstGeom prst="rect">
            <a:avLst/>
          </a:prstGeom>
          <a:solidFill>
            <a:srgbClr val="1730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819C77E-4C5B-4567-AE9E-405127AC98BC}"/>
              </a:ext>
            </a:extLst>
          </p:cNvPr>
          <p:cNvSpPr>
            <a:spLocks noGrp="1"/>
          </p:cNvSpPr>
          <p:nvPr/>
        </p:nvSpPr>
        <p:spPr>
          <a:xfrm>
            <a:off x="3429000" y="1028700"/>
            <a:ext cx="9525" cy="4762500"/>
          </a:xfrm>
          <a:prstGeom prst="rect">
            <a:avLst/>
          </a:prstGeom>
          <a:solidFill>
            <a:srgbClr val="1730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2D8C6F2-2211-4572-BAD6-D159FE623E3A}"/>
              </a:ext>
            </a:extLst>
          </p:cNvPr>
          <p:cNvSpPr>
            <a:spLocks noGrp="1"/>
          </p:cNvSpPr>
          <p:nvPr/>
        </p:nvSpPr>
        <p:spPr>
          <a:xfrm>
            <a:off x="4114800" y="1028700"/>
            <a:ext cx="9525" cy="4762500"/>
          </a:xfrm>
          <a:prstGeom prst="rect">
            <a:avLst/>
          </a:prstGeom>
          <a:solidFill>
            <a:srgbClr val="1730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4C4170B-1CF6-42E8-83FF-764F2552F2D4}"/>
              </a:ext>
            </a:extLst>
          </p:cNvPr>
          <p:cNvSpPr>
            <a:spLocks noGrp="1"/>
          </p:cNvSpPr>
          <p:nvPr/>
        </p:nvSpPr>
        <p:spPr>
          <a:xfrm>
            <a:off x="4800600" y="1028700"/>
            <a:ext cx="9525" cy="4762500"/>
          </a:xfrm>
          <a:prstGeom prst="rect">
            <a:avLst/>
          </a:prstGeom>
          <a:solidFill>
            <a:srgbClr val="1730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C97BEBD-2085-4599-B004-CC1BA3199E77}"/>
              </a:ext>
            </a:extLst>
          </p:cNvPr>
          <p:cNvSpPr>
            <a:spLocks noGrp="1"/>
          </p:cNvSpPr>
          <p:nvPr/>
        </p:nvSpPr>
        <p:spPr>
          <a:xfrm>
            <a:off x="5486400" y="1028700"/>
            <a:ext cx="9525" cy="4762500"/>
          </a:xfrm>
          <a:prstGeom prst="rect">
            <a:avLst/>
          </a:prstGeom>
          <a:solidFill>
            <a:srgbClr val="1730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7DE1536-3635-487A-A2D5-3F168279A920}"/>
              </a:ext>
            </a:extLst>
          </p:cNvPr>
          <p:cNvSpPr>
            <a:spLocks noGrp="1"/>
          </p:cNvSpPr>
          <p:nvPr/>
        </p:nvSpPr>
        <p:spPr>
          <a:xfrm>
            <a:off x="6172200" y="1028700"/>
            <a:ext cx="9525" cy="4762500"/>
          </a:xfrm>
          <a:prstGeom prst="rect">
            <a:avLst/>
          </a:prstGeom>
          <a:solidFill>
            <a:srgbClr val="1730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AAD3471-91F1-4ABE-B739-C28C80960622}"/>
              </a:ext>
            </a:extLst>
          </p:cNvPr>
          <p:cNvSpPr>
            <a:spLocks noGrp="1"/>
          </p:cNvSpPr>
          <p:nvPr/>
        </p:nvSpPr>
        <p:spPr>
          <a:xfrm>
            <a:off x="6858000" y="1028700"/>
            <a:ext cx="9525" cy="4762500"/>
          </a:xfrm>
          <a:prstGeom prst="rect">
            <a:avLst/>
          </a:prstGeom>
          <a:solidFill>
            <a:srgbClr val="1730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4C4FE8-CDF0-413C-BBF6-85ED50E79979}"/>
              </a:ext>
            </a:extLst>
          </p:cNvPr>
          <p:cNvSpPr>
            <a:spLocks noGrp="1"/>
          </p:cNvSpPr>
          <p:nvPr/>
        </p:nvSpPr>
        <p:spPr>
          <a:xfrm>
            <a:off x="7543800" y="1028700"/>
            <a:ext cx="9525" cy="4762500"/>
          </a:xfrm>
          <a:prstGeom prst="rect">
            <a:avLst/>
          </a:prstGeom>
          <a:solidFill>
            <a:srgbClr val="1730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C055D60-007C-4A2B-92C6-B2FBC71F9061}"/>
              </a:ext>
            </a:extLst>
          </p:cNvPr>
          <p:cNvSpPr>
            <a:spLocks noGrp="1"/>
          </p:cNvSpPr>
          <p:nvPr/>
        </p:nvSpPr>
        <p:spPr>
          <a:xfrm>
            <a:off x="8229600" y="1028700"/>
            <a:ext cx="9525" cy="4762500"/>
          </a:xfrm>
          <a:prstGeom prst="rect">
            <a:avLst/>
          </a:prstGeom>
          <a:solidFill>
            <a:srgbClr val="1730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94D2E75-ED46-4E4E-8C88-F9834C21280D}"/>
              </a:ext>
            </a:extLst>
          </p:cNvPr>
          <p:cNvSpPr>
            <a:spLocks noGrp="1"/>
          </p:cNvSpPr>
          <p:nvPr/>
        </p:nvSpPr>
        <p:spPr>
          <a:xfrm>
            <a:off x="8915400" y="1028700"/>
            <a:ext cx="9525" cy="4762500"/>
          </a:xfrm>
          <a:prstGeom prst="rect">
            <a:avLst/>
          </a:prstGeom>
          <a:solidFill>
            <a:srgbClr val="1730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13237D8-9E19-4F78-89BF-2F874AD9D838}"/>
              </a:ext>
            </a:extLst>
          </p:cNvPr>
          <p:cNvSpPr>
            <a:spLocks noGrp="1"/>
          </p:cNvSpPr>
          <p:nvPr/>
        </p:nvSpPr>
        <p:spPr>
          <a:xfrm>
            <a:off x="9601200" y="1028700"/>
            <a:ext cx="9525" cy="4762500"/>
          </a:xfrm>
          <a:prstGeom prst="rect">
            <a:avLst/>
          </a:prstGeom>
          <a:solidFill>
            <a:srgbClr val="1730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FB6B30D-9249-446F-918F-6C2C867B9066}"/>
              </a:ext>
            </a:extLst>
          </p:cNvPr>
          <p:cNvSpPr>
            <a:spLocks noGrp="1"/>
          </p:cNvSpPr>
          <p:nvPr/>
        </p:nvSpPr>
        <p:spPr>
          <a:xfrm>
            <a:off x="10287000" y="1028700"/>
            <a:ext cx="9525" cy="4762500"/>
          </a:xfrm>
          <a:prstGeom prst="rect">
            <a:avLst/>
          </a:prstGeom>
          <a:solidFill>
            <a:srgbClr val="1730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1180C69-C805-43ED-84E4-254B0AF127E7}"/>
              </a:ext>
            </a:extLst>
          </p:cNvPr>
          <p:cNvSpPr>
            <a:spLocks noGrp="1"/>
          </p:cNvSpPr>
          <p:nvPr/>
        </p:nvSpPr>
        <p:spPr>
          <a:xfrm>
            <a:off x="10972800" y="1028700"/>
            <a:ext cx="9525" cy="4762500"/>
          </a:xfrm>
          <a:prstGeom prst="rect">
            <a:avLst/>
          </a:prstGeom>
          <a:solidFill>
            <a:srgbClr val="1730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7A2263B-3BF5-4EF5-8343-321CF84C1572}"/>
              </a:ext>
            </a:extLst>
          </p:cNvPr>
          <p:cNvSpPr>
            <a:spLocks noGrp="1"/>
          </p:cNvSpPr>
          <p:nvPr/>
        </p:nvSpPr>
        <p:spPr>
          <a:xfrm>
            <a:off x="552450" y="1066800"/>
            <a:ext cx="11087100" cy="9525"/>
          </a:xfrm>
          <a:prstGeom prst="rect">
            <a:avLst/>
          </a:prstGeom>
          <a:solidFill>
            <a:srgbClr val="1730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E7651B3-F5CB-4592-A8B2-B83D9ED1EF2C}"/>
              </a:ext>
            </a:extLst>
          </p:cNvPr>
          <p:cNvSpPr>
            <a:spLocks noGrp="1"/>
          </p:cNvSpPr>
          <p:nvPr/>
        </p:nvSpPr>
        <p:spPr>
          <a:xfrm>
            <a:off x="552450" y="1752600"/>
            <a:ext cx="11087100" cy="9525"/>
          </a:xfrm>
          <a:prstGeom prst="rect">
            <a:avLst/>
          </a:prstGeom>
          <a:solidFill>
            <a:srgbClr val="1730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39B6553-7D59-4B49-8694-3E73FE1A1904}"/>
              </a:ext>
            </a:extLst>
          </p:cNvPr>
          <p:cNvSpPr>
            <a:spLocks noGrp="1"/>
          </p:cNvSpPr>
          <p:nvPr/>
        </p:nvSpPr>
        <p:spPr>
          <a:xfrm>
            <a:off x="552450" y="2438400"/>
            <a:ext cx="11087100" cy="9525"/>
          </a:xfrm>
          <a:prstGeom prst="rect">
            <a:avLst/>
          </a:prstGeom>
          <a:solidFill>
            <a:srgbClr val="1730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A177034-531D-4A26-B3B4-7C628E7DCE37}"/>
              </a:ext>
            </a:extLst>
          </p:cNvPr>
          <p:cNvSpPr>
            <a:spLocks noGrp="1"/>
          </p:cNvSpPr>
          <p:nvPr/>
        </p:nvSpPr>
        <p:spPr>
          <a:xfrm>
            <a:off x="552450" y="3124200"/>
            <a:ext cx="11087100" cy="9525"/>
          </a:xfrm>
          <a:prstGeom prst="rect">
            <a:avLst/>
          </a:prstGeom>
          <a:solidFill>
            <a:srgbClr val="1730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859C0D6-C792-42B6-97F5-E42EA37146BF}"/>
              </a:ext>
            </a:extLst>
          </p:cNvPr>
          <p:cNvSpPr>
            <a:spLocks noGrp="1"/>
          </p:cNvSpPr>
          <p:nvPr/>
        </p:nvSpPr>
        <p:spPr>
          <a:xfrm>
            <a:off x="552450" y="3810000"/>
            <a:ext cx="11087100" cy="9525"/>
          </a:xfrm>
          <a:prstGeom prst="rect">
            <a:avLst/>
          </a:prstGeom>
          <a:solidFill>
            <a:srgbClr val="1730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475F9AC-47E1-4C70-BBDA-125383BC1B66}"/>
              </a:ext>
            </a:extLst>
          </p:cNvPr>
          <p:cNvSpPr>
            <a:spLocks noGrp="1"/>
          </p:cNvSpPr>
          <p:nvPr/>
        </p:nvSpPr>
        <p:spPr>
          <a:xfrm>
            <a:off x="552450" y="4495800"/>
            <a:ext cx="11087100" cy="9525"/>
          </a:xfrm>
          <a:prstGeom prst="rect">
            <a:avLst/>
          </a:prstGeom>
          <a:solidFill>
            <a:srgbClr val="1730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0C0C3F8-3D53-4D60-AFEE-B9F0D53F3BED}"/>
              </a:ext>
            </a:extLst>
          </p:cNvPr>
          <p:cNvSpPr>
            <a:spLocks noGrp="1"/>
          </p:cNvSpPr>
          <p:nvPr/>
        </p:nvSpPr>
        <p:spPr>
          <a:xfrm>
            <a:off x="552450" y="5181600"/>
            <a:ext cx="11087100" cy="9525"/>
          </a:xfrm>
          <a:prstGeom prst="rect">
            <a:avLst/>
          </a:prstGeom>
          <a:solidFill>
            <a:srgbClr val="1730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CE09CF7-F715-4057-8367-3A6889834603}"/>
              </a:ext>
            </a:extLst>
          </p:cNvPr>
          <p:cNvSpPr>
            <a:spLocks noGrp="1"/>
          </p:cNvSpPr>
          <p:nvPr/>
        </p:nvSpPr>
        <p:spPr>
          <a:xfrm>
            <a:off x="552450" y="5867400"/>
            <a:ext cx="11087100" cy="9525"/>
          </a:xfrm>
          <a:prstGeom prst="rect">
            <a:avLst/>
          </a:prstGeom>
          <a:solidFill>
            <a:srgbClr val="1730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27" name="kicker-2-marker">
            <a:extLst>
              <a:ext uri="{FF2B5EF4-FFF2-40B4-BE49-F238E27FC236}">
                <a16:creationId xmlns:a16="http://schemas.microsoft.com/office/drawing/2014/main" id="{84BFB8D6-2032-4C50-BD1C-AE6B16D4235A}"/>
              </a:ext>
            </a:extLst>
          </p:cNvPr>
          <p:cNvSpPr>
            <a:spLocks noGrp="1"/>
          </p:cNvSpPr>
          <p:nvPr/>
        </p:nvSpPr>
        <p:spPr>
          <a:xfrm>
            <a:off x="552450" y="419100"/>
            <a:ext cx="114300" cy="114300"/>
          </a:xfrm>
          <a:prstGeom prst="rect">
            <a:avLst/>
          </a:prstGeom>
          <a:solidFill>
            <a:srgbClr val="2DD4B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28" name="kicker-2-label">
            <a:extLst>
              <a:ext uri="{FF2B5EF4-FFF2-40B4-BE49-F238E27FC236}">
                <a16:creationId xmlns:a16="http://schemas.microsoft.com/office/drawing/2014/main" id="{ECC474D1-55D2-48AA-BB0F-E7498D9EAAA7}"/>
              </a:ext>
            </a:extLst>
          </p:cNvPr>
          <p:cNvSpPr>
            <a:spLocks noGrp="1"/>
          </p:cNvSpPr>
          <p:nvPr/>
        </p:nvSpPr>
        <p:spPr>
          <a:xfrm>
            <a:off x="781050" y="381000"/>
            <a:ext cx="3238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750" b="1">
                <a:solidFill>
                  <a:srgbClr val="9EB3B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9EB3BB"/>
                </a:solidFill>
                <a:latin typeface="Aptos"/>
                <a:ea typeface="Aptos"/>
                <a:cs typeface="Aptos"/>
              </a:rPr>
              <a:t>EXPERIENCIA DEL USUARIO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D7AB4C0-3FE7-42BA-9FB1-FFBAEAC32DA7}"/>
              </a:ext>
            </a:extLst>
          </p:cNvPr>
          <p:cNvSpPr>
            <a:spLocks noGrp="1"/>
          </p:cNvSpPr>
          <p:nvPr/>
        </p:nvSpPr>
        <p:spPr>
          <a:xfrm>
            <a:off x="552450" y="742950"/>
            <a:ext cx="695325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F4FAF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4FAFB"/>
                </a:solidFill>
                <a:latin typeface="Aptos Display"/>
                <a:ea typeface="Aptos Display"/>
                <a:cs typeface="Aptos Display"/>
              </a:rPr>
              <a:t>La inmersión se sostiene cuando moverse, explorar y decidir se siente natural.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5983189-5D4E-46E8-95A8-2C7541213EC0}"/>
              </a:ext>
            </a:extLst>
          </p:cNvPr>
          <p:cNvSpPr>
            <a:spLocks noGrp="1"/>
          </p:cNvSpPr>
          <p:nvPr/>
        </p:nvSpPr>
        <p:spPr>
          <a:xfrm>
            <a:off x="552450" y="6238875"/>
            <a:ext cx="11087100" cy="9525"/>
          </a:xfrm>
          <a:prstGeom prst="rect">
            <a:avLst/>
          </a:prstGeom>
          <a:solidFill>
            <a:srgbClr val="2443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FB7B506-F69A-42F4-ABB6-ED463E2A006E}"/>
              </a:ext>
            </a:extLst>
          </p:cNvPr>
          <p:cNvSpPr>
            <a:spLocks noGrp="1"/>
          </p:cNvSpPr>
          <p:nvPr/>
        </p:nvSpPr>
        <p:spPr>
          <a:xfrm>
            <a:off x="552450" y="6381750"/>
            <a:ext cx="4191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9EB3B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EB3BB"/>
                </a:solidFill>
                <a:latin typeface="Aptos"/>
                <a:ea typeface="Aptos"/>
                <a:cs typeface="Aptos"/>
              </a:rPr>
              <a:t>Realidad virtual e inmersiva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41B75BE-741A-46C6-931B-672A7C14560C}"/>
              </a:ext>
            </a:extLst>
          </p:cNvPr>
          <p:cNvSpPr>
            <a:spLocks noGrp="1"/>
          </p:cNvSpPr>
          <p:nvPr/>
        </p:nvSpPr>
        <p:spPr>
          <a:xfrm>
            <a:off x="11144250" y="6334125"/>
            <a:ext cx="4953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200" b="1">
                <a:solidFill>
                  <a:srgbClr val="9EB3B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9EB3B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822DCF0-1952-4929-AFBE-FBA693AF935E}"/>
              </a:ext>
            </a:extLst>
          </p:cNvPr>
          <p:cNvSpPr>
            <a:spLocks noGrp="1"/>
          </p:cNvSpPr>
          <p:nvPr/>
        </p:nvSpPr>
        <p:spPr>
          <a:xfrm>
            <a:off x="552450" y="4810125"/>
            <a:ext cx="3124200" cy="1200150"/>
          </a:xfrm>
          <a:prstGeom prst="rect">
            <a:avLst/>
          </a:prstGeom>
          <a:solidFill>
            <a:srgbClr val="0D1B22"/>
          </a:solidFill>
          <a:ln w="9525">
            <a:solidFill>
              <a:srgbClr val="24434D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310A8C1-2BCE-4550-ABC3-65786FBFC178}"/>
              </a:ext>
            </a:extLst>
          </p:cNvPr>
          <p:cNvSpPr>
            <a:spLocks noGrp="1"/>
          </p:cNvSpPr>
          <p:nvPr/>
        </p:nvSpPr>
        <p:spPr>
          <a:xfrm>
            <a:off x="552450" y="4810125"/>
            <a:ext cx="57150" cy="1200150"/>
          </a:xfrm>
          <a:prstGeom prst="rect">
            <a:avLst/>
          </a:prstGeom>
          <a:solidFill>
            <a:srgbClr val="2DD4B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3FD6E6F-59EC-4BAD-A4C7-633664B06C27}"/>
              </a:ext>
            </a:extLst>
          </p:cNvPr>
          <p:cNvSpPr>
            <a:spLocks noGrp="1"/>
          </p:cNvSpPr>
          <p:nvPr/>
        </p:nvSpPr>
        <p:spPr>
          <a:xfrm>
            <a:off x="742950" y="4981575"/>
            <a:ext cx="4381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2DD4B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2DD4BF"/>
                </a:solidFill>
                <a:latin typeface="Aptos Display"/>
                <a:ea typeface="Aptos Display"/>
                <a:cs typeface="Aptos Display"/>
              </a:rPr>
              <a:t>04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0F63A5D-214F-404E-AC13-193D840981FB}"/>
              </a:ext>
            </a:extLst>
          </p:cNvPr>
          <p:cNvSpPr>
            <a:spLocks noGrp="1"/>
          </p:cNvSpPr>
          <p:nvPr/>
        </p:nvSpPr>
        <p:spPr>
          <a:xfrm>
            <a:off x="1295400" y="4962525"/>
            <a:ext cx="2095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F4FAFB"/>
                </a:solidFill>
                <a:latin typeface="Aptos"/>
                <a:ea typeface="Aptos"/>
                <a:cs typeface="Aptos"/>
              </a:defRPr>
            </a:pPr>
            <a:r>
              <a:rPr sz="1125" b="1" dirty="0" err="1">
                <a:solidFill>
                  <a:srgbClr val="F4FAFB"/>
                </a:solidFill>
                <a:latin typeface="Aptos"/>
                <a:ea typeface="Aptos"/>
                <a:cs typeface="Aptos"/>
              </a:rPr>
              <a:t>Facilidades</a:t>
            </a:r>
            <a:r>
              <a:rPr sz="1125" b="1" dirty="0">
                <a:solidFill>
                  <a:srgbClr val="F4FAFB"/>
                </a:solidFill>
                <a:latin typeface="Aptos"/>
                <a:ea typeface="Aptos"/>
                <a:cs typeface="Aptos"/>
              </a:rPr>
              <a:t> de </a:t>
            </a:r>
            <a:r>
              <a:rPr sz="1125" b="1" dirty="0" err="1">
                <a:solidFill>
                  <a:srgbClr val="F4FAFB"/>
                </a:solidFill>
                <a:latin typeface="Aptos"/>
                <a:ea typeface="Aptos"/>
                <a:cs typeface="Aptos"/>
              </a:rPr>
              <a:t>navegación</a:t>
            </a:r>
            <a:endParaRPr sz="1125" b="1" dirty="0">
              <a:solidFill>
                <a:srgbClr val="F4FAF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3D7ED96-1797-419A-9461-3E448073F9EA}"/>
              </a:ext>
            </a:extLst>
          </p:cNvPr>
          <p:cNvSpPr>
            <a:spLocks noGrp="1"/>
          </p:cNvSpPr>
          <p:nvPr/>
        </p:nvSpPr>
        <p:spPr>
          <a:xfrm>
            <a:off x="1295400" y="5334000"/>
            <a:ext cx="2095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5" b="0">
                <a:solidFill>
                  <a:srgbClr val="9EB3BB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9EB3BB"/>
                </a:solidFill>
                <a:latin typeface="Aptos"/>
                <a:ea typeface="Aptos"/>
                <a:cs typeface="Aptos"/>
              </a:rPr>
              <a:t>Herramientas para desplazarse, orientar la vista y localizar objetivos dentro de un espacio virtual.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BBE2C9C-2FC1-4963-9023-8B9851FC09E5}"/>
              </a:ext>
            </a:extLst>
          </p:cNvPr>
          <p:cNvSpPr>
            <a:spLocks noGrp="1"/>
          </p:cNvSpPr>
          <p:nvPr/>
        </p:nvSpPr>
        <p:spPr>
          <a:xfrm>
            <a:off x="4533900" y="4810125"/>
            <a:ext cx="3124200" cy="1200150"/>
          </a:xfrm>
          <a:prstGeom prst="rect">
            <a:avLst/>
          </a:prstGeom>
          <a:solidFill>
            <a:srgbClr val="0D1B22"/>
          </a:solidFill>
          <a:ln w="9525">
            <a:solidFill>
              <a:srgbClr val="24434D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549048E-B5BB-4CE0-8BF8-3D4C70FA191D}"/>
              </a:ext>
            </a:extLst>
          </p:cNvPr>
          <p:cNvSpPr>
            <a:spLocks noGrp="1"/>
          </p:cNvSpPr>
          <p:nvPr/>
        </p:nvSpPr>
        <p:spPr>
          <a:xfrm>
            <a:off x="4533900" y="4810125"/>
            <a:ext cx="57150" cy="1200150"/>
          </a:xfrm>
          <a:prstGeom prst="rect">
            <a:avLst/>
          </a:prstGeom>
          <a:solidFill>
            <a:srgbClr val="60A5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EEDFF6B-6592-4637-82E8-476D87E5278E}"/>
              </a:ext>
            </a:extLst>
          </p:cNvPr>
          <p:cNvSpPr>
            <a:spLocks noGrp="1"/>
          </p:cNvSpPr>
          <p:nvPr/>
        </p:nvSpPr>
        <p:spPr>
          <a:xfrm>
            <a:off x="4724400" y="4981575"/>
            <a:ext cx="4381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60A5FA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60A5FA"/>
                </a:solidFill>
                <a:latin typeface="Aptos Display"/>
                <a:ea typeface="Aptos Display"/>
                <a:cs typeface="Aptos Display"/>
              </a:rPr>
              <a:t>05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B8CDBD4-9ACA-4A7C-8508-79404B711C63}"/>
              </a:ext>
            </a:extLst>
          </p:cNvPr>
          <p:cNvSpPr>
            <a:spLocks noGrp="1"/>
          </p:cNvSpPr>
          <p:nvPr/>
        </p:nvSpPr>
        <p:spPr>
          <a:xfrm>
            <a:off x="5276850" y="4962525"/>
            <a:ext cx="2095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F4FAFB"/>
                </a:solidFill>
                <a:latin typeface="Aptos"/>
                <a:ea typeface="Aptos"/>
                <a:cs typeface="Aptos"/>
              </a:defRPr>
            </a:pPr>
            <a:r>
              <a:rPr sz="1125" b="1" dirty="0" err="1">
                <a:solidFill>
                  <a:srgbClr val="F4FAFB"/>
                </a:solidFill>
                <a:latin typeface="Aptos"/>
                <a:ea typeface="Aptos"/>
                <a:cs typeface="Aptos"/>
              </a:rPr>
              <a:t>Técnicas</a:t>
            </a:r>
            <a:r>
              <a:rPr sz="1125" b="1" dirty="0">
                <a:solidFill>
                  <a:srgbClr val="F4FAFB"/>
                </a:solidFill>
                <a:latin typeface="Aptos"/>
                <a:ea typeface="Aptos"/>
                <a:cs typeface="Aptos"/>
              </a:rPr>
              <a:t> de </a:t>
            </a:r>
            <a:r>
              <a:rPr sz="1125" b="1" dirty="0" err="1">
                <a:solidFill>
                  <a:srgbClr val="F4FAFB"/>
                </a:solidFill>
                <a:latin typeface="Aptos"/>
                <a:ea typeface="Aptos"/>
                <a:cs typeface="Aptos"/>
              </a:rPr>
              <a:t>inmersión</a:t>
            </a:r>
            <a:endParaRPr sz="1125" b="1" dirty="0">
              <a:solidFill>
                <a:srgbClr val="F4FAF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A51872C-5660-43DB-A2EE-CE869584DA6B}"/>
              </a:ext>
            </a:extLst>
          </p:cNvPr>
          <p:cNvSpPr>
            <a:spLocks noGrp="1"/>
          </p:cNvSpPr>
          <p:nvPr/>
        </p:nvSpPr>
        <p:spPr>
          <a:xfrm>
            <a:off x="5276850" y="5334000"/>
            <a:ext cx="2095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5" b="0">
                <a:solidFill>
                  <a:srgbClr val="9EB3BB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9EB3BB"/>
                </a:solidFill>
                <a:latin typeface="Aptos"/>
                <a:ea typeface="Aptos"/>
                <a:cs typeface="Aptos"/>
              </a:rPr>
              <a:t>Recursos visuales, sonoros y sensoriales que reducen la distancia entre usuario y entorno.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FB684A6-2C5F-4786-B31A-CC798A3FB38A}"/>
              </a:ext>
            </a:extLst>
          </p:cNvPr>
          <p:cNvSpPr>
            <a:spLocks noGrp="1"/>
          </p:cNvSpPr>
          <p:nvPr/>
        </p:nvSpPr>
        <p:spPr>
          <a:xfrm>
            <a:off x="8515350" y="4810125"/>
            <a:ext cx="3124200" cy="1200150"/>
          </a:xfrm>
          <a:prstGeom prst="rect">
            <a:avLst/>
          </a:prstGeom>
          <a:solidFill>
            <a:srgbClr val="0D1B22"/>
          </a:solidFill>
          <a:ln w="9525">
            <a:solidFill>
              <a:srgbClr val="24434D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117F514-C537-4C8E-966C-1659088C7EA9}"/>
              </a:ext>
            </a:extLst>
          </p:cNvPr>
          <p:cNvSpPr>
            <a:spLocks noGrp="1"/>
          </p:cNvSpPr>
          <p:nvPr/>
        </p:nvSpPr>
        <p:spPr>
          <a:xfrm>
            <a:off x="8515350" y="4810125"/>
            <a:ext cx="57150" cy="1200150"/>
          </a:xfrm>
          <a:prstGeom prst="rect">
            <a:avLst/>
          </a:prstGeom>
          <a:solidFill>
            <a:srgbClr val="FB718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774CF19-EDB6-4486-A227-662639E57854}"/>
              </a:ext>
            </a:extLst>
          </p:cNvPr>
          <p:cNvSpPr>
            <a:spLocks noGrp="1"/>
          </p:cNvSpPr>
          <p:nvPr/>
        </p:nvSpPr>
        <p:spPr>
          <a:xfrm>
            <a:off x="8705850" y="4981575"/>
            <a:ext cx="4381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FB7185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B7185"/>
                </a:solidFill>
                <a:latin typeface="Aptos Display"/>
                <a:ea typeface="Aptos Display"/>
                <a:cs typeface="Aptos Display"/>
              </a:rPr>
              <a:t>06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81C8E2E-B1B5-4CE8-99FE-90C62D82A8F8}"/>
              </a:ext>
            </a:extLst>
          </p:cNvPr>
          <p:cNvSpPr>
            <a:spLocks noGrp="1"/>
          </p:cNvSpPr>
          <p:nvPr/>
        </p:nvSpPr>
        <p:spPr>
          <a:xfrm>
            <a:off x="9258300" y="4962525"/>
            <a:ext cx="2095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F4FAFB"/>
                </a:solidFill>
                <a:latin typeface="Aptos"/>
                <a:ea typeface="Aptos"/>
                <a:cs typeface="Aptos"/>
              </a:defRPr>
            </a:pPr>
            <a:r>
              <a:rPr sz="1125" b="1" dirty="0" err="1">
                <a:solidFill>
                  <a:srgbClr val="F4FAFB"/>
                </a:solidFill>
                <a:latin typeface="Aptos"/>
                <a:ea typeface="Aptos"/>
                <a:cs typeface="Aptos"/>
              </a:rPr>
              <a:t>Interactividad</a:t>
            </a:r>
            <a:endParaRPr sz="1125" b="1" dirty="0">
              <a:solidFill>
                <a:srgbClr val="F4FAF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02882FEB-53B0-4E3B-9EFD-2A0D99637F5E}"/>
              </a:ext>
            </a:extLst>
          </p:cNvPr>
          <p:cNvSpPr>
            <a:spLocks noGrp="1"/>
          </p:cNvSpPr>
          <p:nvPr/>
        </p:nvSpPr>
        <p:spPr>
          <a:xfrm>
            <a:off x="9258300" y="5334000"/>
            <a:ext cx="2095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5" b="0">
                <a:solidFill>
                  <a:srgbClr val="9EB3BB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9EB3BB"/>
                </a:solidFill>
                <a:latin typeface="Aptos"/>
                <a:ea typeface="Aptos"/>
                <a:cs typeface="Aptos"/>
              </a:rPr>
              <a:t>Capacidad de modificar la escena mediante acciones del usuario y recibir retroalimentación inmediata.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A40ACA1D-6101-4116-B931-C1D747EAC373}"/>
              </a:ext>
            </a:extLst>
          </p:cNvPr>
          <p:cNvSpPr>
            <a:spLocks noGrp="1"/>
          </p:cNvSpPr>
          <p:nvPr/>
        </p:nvSpPr>
        <p:spPr>
          <a:xfrm>
            <a:off x="2362200" y="2152650"/>
            <a:ext cx="228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endParaRPr sz="1200" b="1" dirty="0">
              <a:solidFill>
                <a:srgbClr val="2DD4B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6CA5DE6D-4D51-44F5-B767-109DE90AD67D}"/>
              </a:ext>
            </a:extLst>
          </p:cNvPr>
          <p:cNvSpPr>
            <a:spLocks noGrp="1"/>
          </p:cNvSpPr>
          <p:nvPr/>
        </p:nvSpPr>
        <p:spPr>
          <a:xfrm>
            <a:off x="1752600" y="36576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F4FAF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4FAFB"/>
                </a:solidFill>
                <a:latin typeface="Aptos"/>
                <a:ea typeface="Aptos"/>
                <a:cs typeface="Aptos"/>
              </a:rPr>
              <a:t>mapa + ruta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12BA7FF5-A01A-40CA-B930-6B2CBF94FEA4}"/>
              </a:ext>
            </a:extLst>
          </p:cNvPr>
          <p:cNvSpPr>
            <a:spLocks noGrp="1"/>
          </p:cNvSpPr>
          <p:nvPr/>
        </p:nvSpPr>
        <p:spPr>
          <a:xfrm>
            <a:off x="9563100" y="3086100"/>
            <a:ext cx="971550" cy="628650"/>
          </a:xfrm>
          <a:prstGeom prst="rect">
            <a:avLst/>
          </a:prstGeom>
          <a:solidFill>
            <a:srgbClr val="10262E"/>
          </a:solidFill>
          <a:ln w="1905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CDFBA4B0-D106-4D7F-BF0F-4DFC484E9731}"/>
              </a:ext>
            </a:extLst>
          </p:cNvPr>
          <p:cNvSpPr>
            <a:spLocks noGrp="1"/>
          </p:cNvSpPr>
          <p:nvPr/>
        </p:nvSpPr>
        <p:spPr>
          <a:xfrm>
            <a:off x="9829800" y="2609850"/>
            <a:ext cx="514350" cy="9525"/>
          </a:xfrm>
          <a:prstGeom prst="rect">
            <a:avLst/>
          </a:prstGeom>
          <a:solidFill>
            <a:srgbClr val="FB718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D20B583C-2D54-4A9B-B710-BC2C7F4036DD}"/>
              </a:ext>
            </a:extLst>
          </p:cNvPr>
          <p:cNvSpPr>
            <a:spLocks noGrp="1"/>
          </p:cNvSpPr>
          <p:nvPr/>
        </p:nvSpPr>
        <p:spPr>
          <a:xfrm>
            <a:off x="10334625" y="2609850"/>
            <a:ext cx="9525" cy="476250"/>
          </a:xfrm>
          <a:prstGeom prst="rect">
            <a:avLst/>
          </a:prstGeom>
          <a:solidFill>
            <a:srgbClr val="FB718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1F29E498-65F3-4D4A-975D-875DE16D10D1}"/>
              </a:ext>
            </a:extLst>
          </p:cNvPr>
          <p:cNvSpPr>
            <a:spLocks noGrp="1"/>
          </p:cNvSpPr>
          <p:nvPr/>
        </p:nvSpPr>
        <p:spPr>
          <a:xfrm>
            <a:off x="9201150" y="2514600"/>
            <a:ext cx="266700" cy="266700"/>
          </a:xfrm>
          <a:prstGeom prst="ellipse">
            <a:avLst/>
          </a:prstGeom>
          <a:solidFill>
            <a:srgbClr val="FB718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82294691-58F0-45D0-9E69-014BCFD9D58B}"/>
              </a:ext>
            </a:extLst>
          </p:cNvPr>
          <p:cNvSpPr>
            <a:spLocks noGrp="1"/>
          </p:cNvSpPr>
          <p:nvPr/>
        </p:nvSpPr>
        <p:spPr>
          <a:xfrm>
            <a:off x="9906000" y="3276600"/>
            <a:ext cx="266700" cy="266700"/>
          </a:xfrm>
          <a:prstGeom prst="ellipse">
            <a:avLst/>
          </a:prstGeom>
          <a:solidFill>
            <a:srgbClr val="2DD4B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0A959099-23B7-4693-A219-0B63EBC2A63E}"/>
              </a:ext>
            </a:extLst>
          </p:cNvPr>
          <p:cNvSpPr>
            <a:spLocks noGrp="1"/>
          </p:cNvSpPr>
          <p:nvPr/>
        </p:nvSpPr>
        <p:spPr>
          <a:xfrm>
            <a:off x="8953500" y="2952750"/>
            <a:ext cx="781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0">
                <a:solidFill>
                  <a:srgbClr val="9EB3B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EB3BB"/>
                </a:solidFill>
                <a:latin typeface="Aptos"/>
                <a:ea typeface="Aptos"/>
                <a:cs typeface="Aptos"/>
              </a:rPr>
              <a:t>acción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1CAB325D-BE8D-4C2F-9568-5D69EBB5491A}"/>
              </a:ext>
            </a:extLst>
          </p:cNvPr>
          <p:cNvSpPr>
            <a:spLocks noGrp="1"/>
          </p:cNvSpPr>
          <p:nvPr/>
        </p:nvSpPr>
        <p:spPr>
          <a:xfrm>
            <a:off x="9648825" y="3743325"/>
            <a:ext cx="857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0">
                <a:solidFill>
                  <a:srgbClr val="9EB3B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EB3BB"/>
                </a:solidFill>
                <a:latin typeface="Aptos"/>
                <a:ea typeface="Aptos"/>
                <a:cs typeface="Aptos"/>
              </a:rPr>
              <a:t>respuesta</a:t>
            </a:r>
          </a:p>
        </p:txBody>
      </p:sp>
      <p:pic>
        <p:nvPicPr>
          <p:cNvPr id="3074" name="Picture 2" descr="Realidad Aumentada, ¿qué es y para qué sirve? ▷ Aplicaciones">
            <a:extLst>
              <a:ext uri="{FF2B5EF4-FFF2-40B4-BE49-F238E27FC236}">
                <a16:creationId xmlns:a16="http://schemas.microsoft.com/office/drawing/2014/main" id="{030ACD3D-91B6-B877-46B6-E5E4FF0842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5850" y="2305050"/>
            <a:ext cx="2632832" cy="17541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Tipos de realidad virtual y su utilidad en formación">
            <a:extLst>
              <a:ext uri="{FF2B5EF4-FFF2-40B4-BE49-F238E27FC236}">
                <a16:creationId xmlns:a16="http://schemas.microsoft.com/office/drawing/2014/main" id="{D10538EB-2631-1FD9-14EF-7829793B58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2450" y="2338741"/>
            <a:ext cx="3448050" cy="18570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Dispositivos y soluciones en Realidad Virtual para empresas - DDInteractiva">
            <a:extLst>
              <a:ext uri="{FF2B5EF4-FFF2-40B4-BE49-F238E27FC236}">
                <a16:creationId xmlns:a16="http://schemas.microsoft.com/office/drawing/2014/main" id="{4784389E-097C-B311-04C7-18F940F925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5229" y="2265961"/>
            <a:ext cx="3593383" cy="20212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68816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Rectangle 68">
            <a:extLst>
              <a:ext uri="{FF2B5EF4-FFF2-40B4-BE49-F238E27FC236}">
                <a16:creationId xmlns:a16="http://schemas.microsoft.com/office/drawing/2014/main" id="{CF25977B-95C1-40AB-AA2F-1D0A56025CA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01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6FE41FD-8F79-4BFA-9E56-D0C54C73631D}"/>
              </a:ext>
            </a:extLst>
          </p:cNvPr>
          <p:cNvSpPr>
            <a:spLocks noGrp="1"/>
          </p:cNvSpPr>
          <p:nvPr/>
        </p:nvSpPr>
        <p:spPr>
          <a:xfrm>
            <a:off x="685800" y="1028700"/>
            <a:ext cx="9525" cy="4762500"/>
          </a:xfrm>
          <a:prstGeom prst="rect">
            <a:avLst/>
          </a:prstGeom>
          <a:solidFill>
            <a:srgbClr val="1730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2F8E462-D5BC-45F5-B783-806DA0A387B4}"/>
              </a:ext>
            </a:extLst>
          </p:cNvPr>
          <p:cNvSpPr>
            <a:spLocks noGrp="1"/>
          </p:cNvSpPr>
          <p:nvPr/>
        </p:nvSpPr>
        <p:spPr>
          <a:xfrm>
            <a:off x="1371600" y="1028700"/>
            <a:ext cx="9525" cy="4762500"/>
          </a:xfrm>
          <a:prstGeom prst="rect">
            <a:avLst/>
          </a:prstGeom>
          <a:solidFill>
            <a:srgbClr val="1730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45365E4-5BAE-4AC2-9075-463986A22A43}"/>
              </a:ext>
            </a:extLst>
          </p:cNvPr>
          <p:cNvSpPr>
            <a:spLocks noGrp="1"/>
          </p:cNvSpPr>
          <p:nvPr/>
        </p:nvSpPr>
        <p:spPr>
          <a:xfrm>
            <a:off x="2057400" y="1028700"/>
            <a:ext cx="9525" cy="4762500"/>
          </a:xfrm>
          <a:prstGeom prst="rect">
            <a:avLst/>
          </a:prstGeom>
          <a:solidFill>
            <a:srgbClr val="1730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DD42D43-0CB4-433F-AE0B-AC08A2E56AAF}"/>
              </a:ext>
            </a:extLst>
          </p:cNvPr>
          <p:cNvSpPr>
            <a:spLocks noGrp="1"/>
          </p:cNvSpPr>
          <p:nvPr/>
        </p:nvSpPr>
        <p:spPr>
          <a:xfrm>
            <a:off x="2743200" y="1028700"/>
            <a:ext cx="9525" cy="4762500"/>
          </a:xfrm>
          <a:prstGeom prst="rect">
            <a:avLst/>
          </a:prstGeom>
          <a:solidFill>
            <a:srgbClr val="1730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A3D1072-326C-4F6E-A8D4-1D2A50B9AB90}"/>
              </a:ext>
            </a:extLst>
          </p:cNvPr>
          <p:cNvSpPr>
            <a:spLocks noGrp="1"/>
          </p:cNvSpPr>
          <p:nvPr/>
        </p:nvSpPr>
        <p:spPr>
          <a:xfrm>
            <a:off x="3429000" y="1028700"/>
            <a:ext cx="9525" cy="4762500"/>
          </a:xfrm>
          <a:prstGeom prst="rect">
            <a:avLst/>
          </a:prstGeom>
          <a:solidFill>
            <a:srgbClr val="1730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D7FC80B-BDE7-4B89-9465-4D597CB29B93}"/>
              </a:ext>
            </a:extLst>
          </p:cNvPr>
          <p:cNvSpPr>
            <a:spLocks noGrp="1"/>
          </p:cNvSpPr>
          <p:nvPr/>
        </p:nvSpPr>
        <p:spPr>
          <a:xfrm>
            <a:off x="4114800" y="1028700"/>
            <a:ext cx="9525" cy="4762500"/>
          </a:xfrm>
          <a:prstGeom prst="rect">
            <a:avLst/>
          </a:prstGeom>
          <a:solidFill>
            <a:srgbClr val="1730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9384246-E954-417E-9639-D09DC464DA02}"/>
              </a:ext>
            </a:extLst>
          </p:cNvPr>
          <p:cNvSpPr>
            <a:spLocks noGrp="1"/>
          </p:cNvSpPr>
          <p:nvPr/>
        </p:nvSpPr>
        <p:spPr>
          <a:xfrm>
            <a:off x="4800600" y="1028700"/>
            <a:ext cx="9525" cy="4762500"/>
          </a:xfrm>
          <a:prstGeom prst="rect">
            <a:avLst/>
          </a:prstGeom>
          <a:solidFill>
            <a:srgbClr val="1730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C006452-47C3-457A-ABE6-B039C62C3928}"/>
              </a:ext>
            </a:extLst>
          </p:cNvPr>
          <p:cNvSpPr>
            <a:spLocks noGrp="1"/>
          </p:cNvSpPr>
          <p:nvPr/>
        </p:nvSpPr>
        <p:spPr>
          <a:xfrm>
            <a:off x="5486400" y="1028700"/>
            <a:ext cx="9525" cy="4762500"/>
          </a:xfrm>
          <a:prstGeom prst="rect">
            <a:avLst/>
          </a:prstGeom>
          <a:solidFill>
            <a:srgbClr val="1730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9A027FA-E9DD-4C22-861F-117D68AC18F3}"/>
              </a:ext>
            </a:extLst>
          </p:cNvPr>
          <p:cNvSpPr>
            <a:spLocks noGrp="1"/>
          </p:cNvSpPr>
          <p:nvPr/>
        </p:nvSpPr>
        <p:spPr>
          <a:xfrm>
            <a:off x="6172200" y="1028700"/>
            <a:ext cx="9525" cy="4762500"/>
          </a:xfrm>
          <a:prstGeom prst="rect">
            <a:avLst/>
          </a:prstGeom>
          <a:solidFill>
            <a:srgbClr val="1730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B2DCED4-C401-48CD-AA79-D6C08211AA40}"/>
              </a:ext>
            </a:extLst>
          </p:cNvPr>
          <p:cNvSpPr>
            <a:spLocks noGrp="1"/>
          </p:cNvSpPr>
          <p:nvPr/>
        </p:nvSpPr>
        <p:spPr>
          <a:xfrm>
            <a:off x="6858000" y="1028700"/>
            <a:ext cx="9525" cy="4762500"/>
          </a:xfrm>
          <a:prstGeom prst="rect">
            <a:avLst/>
          </a:prstGeom>
          <a:solidFill>
            <a:srgbClr val="1730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E684825-2485-40F0-B202-B55CA3804F31}"/>
              </a:ext>
            </a:extLst>
          </p:cNvPr>
          <p:cNvSpPr>
            <a:spLocks noGrp="1"/>
          </p:cNvSpPr>
          <p:nvPr/>
        </p:nvSpPr>
        <p:spPr>
          <a:xfrm>
            <a:off x="7543800" y="1028700"/>
            <a:ext cx="9525" cy="4762500"/>
          </a:xfrm>
          <a:prstGeom prst="rect">
            <a:avLst/>
          </a:prstGeom>
          <a:solidFill>
            <a:srgbClr val="1730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BFE0071-5A23-4A6E-82F1-0D6DB3B834B2}"/>
              </a:ext>
            </a:extLst>
          </p:cNvPr>
          <p:cNvSpPr>
            <a:spLocks noGrp="1"/>
          </p:cNvSpPr>
          <p:nvPr/>
        </p:nvSpPr>
        <p:spPr>
          <a:xfrm>
            <a:off x="8229600" y="1028700"/>
            <a:ext cx="9525" cy="4762500"/>
          </a:xfrm>
          <a:prstGeom prst="rect">
            <a:avLst/>
          </a:prstGeom>
          <a:solidFill>
            <a:srgbClr val="1730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4005988-B5A9-4270-86EF-A7649C28AD7A}"/>
              </a:ext>
            </a:extLst>
          </p:cNvPr>
          <p:cNvSpPr>
            <a:spLocks noGrp="1"/>
          </p:cNvSpPr>
          <p:nvPr/>
        </p:nvSpPr>
        <p:spPr>
          <a:xfrm>
            <a:off x="8915400" y="1028700"/>
            <a:ext cx="9525" cy="4762500"/>
          </a:xfrm>
          <a:prstGeom prst="rect">
            <a:avLst/>
          </a:prstGeom>
          <a:solidFill>
            <a:srgbClr val="1730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227331-7DD0-42AB-8200-6C404E414D07}"/>
              </a:ext>
            </a:extLst>
          </p:cNvPr>
          <p:cNvSpPr>
            <a:spLocks noGrp="1"/>
          </p:cNvSpPr>
          <p:nvPr/>
        </p:nvSpPr>
        <p:spPr>
          <a:xfrm>
            <a:off x="9601200" y="1028700"/>
            <a:ext cx="9525" cy="4762500"/>
          </a:xfrm>
          <a:prstGeom prst="rect">
            <a:avLst/>
          </a:prstGeom>
          <a:solidFill>
            <a:srgbClr val="1730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35D2927-0890-4E44-9062-8DCB2243EF0A}"/>
              </a:ext>
            </a:extLst>
          </p:cNvPr>
          <p:cNvSpPr>
            <a:spLocks noGrp="1"/>
          </p:cNvSpPr>
          <p:nvPr/>
        </p:nvSpPr>
        <p:spPr>
          <a:xfrm>
            <a:off x="10287000" y="1028700"/>
            <a:ext cx="9525" cy="4762500"/>
          </a:xfrm>
          <a:prstGeom prst="rect">
            <a:avLst/>
          </a:prstGeom>
          <a:solidFill>
            <a:srgbClr val="1730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4903A62-8138-4BB0-A7D2-56FC3E1A7C3D}"/>
              </a:ext>
            </a:extLst>
          </p:cNvPr>
          <p:cNvSpPr>
            <a:spLocks noGrp="1"/>
          </p:cNvSpPr>
          <p:nvPr/>
        </p:nvSpPr>
        <p:spPr>
          <a:xfrm>
            <a:off x="10972800" y="1028700"/>
            <a:ext cx="9525" cy="4762500"/>
          </a:xfrm>
          <a:prstGeom prst="rect">
            <a:avLst/>
          </a:prstGeom>
          <a:solidFill>
            <a:srgbClr val="1730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DC516C4-EFB8-4755-AD3C-8B94A14AF1F5}"/>
              </a:ext>
            </a:extLst>
          </p:cNvPr>
          <p:cNvSpPr>
            <a:spLocks noGrp="1"/>
          </p:cNvSpPr>
          <p:nvPr/>
        </p:nvSpPr>
        <p:spPr>
          <a:xfrm>
            <a:off x="552450" y="1066800"/>
            <a:ext cx="11087100" cy="9525"/>
          </a:xfrm>
          <a:prstGeom prst="rect">
            <a:avLst/>
          </a:prstGeom>
          <a:solidFill>
            <a:srgbClr val="1730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2BF3700-64E7-4CC3-A0DD-70BAF5B2E14A}"/>
              </a:ext>
            </a:extLst>
          </p:cNvPr>
          <p:cNvSpPr>
            <a:spLocks noGrp="1"/>
          </p:cNvSpPr>
          <p:nvPr/>
        </p:nvSpPr>
        <p:spPr>
          <a:xfrm>
            <a:off x="552450" y="1752600"/>
            <a:ext cx="11087100" cy="9525"/>
          </a:xfrm>
          <a:prstGeom prst="rect">
            <a:avLst/>
          </a:prstGeom>
          <a:solidFill>
            <a:srgbClr val="1730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EEF5C96-DDC9-4D2C-B462-8ECDF3598781}"/>
              </a:ext>
            </a:extLst>
          </p:cNvPr>
          <p:cNvSpPr>
            <a:spLocks noGrp="1"/>
          </p:cNvSpPr>
          <p:nvPr/>
        </p:nvSpPr>
        <p:spPr>
          <a:xfrm>
            <a:off x="552450" y="2438400"/>
            <a:ext cx="11087100" cy="9525"/>
          </a:xfrm>
          <a:prstGeom prst="rect">
            <a:avLst/>
          </a:prstGeom>
          <a:solidFill>
            <a:srgbClr val="1730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CE31FA2-22F5-4EBE-BE85-699166D37B24}"/>
              </a:ext>
            </a:extLst>
          </p:cNvPr>
          <p:cNvSpPr>
            <a:spLocks noGrp="1"/>
          </p:cNvSpPr>
          <p:nvPr/>
        </p:nvSpPr>
        <p:spPr>
          <a:xfrm>
            <a:off x="552450" y="3124200"/>
            <a:ext cx="11087100" cy="9525"/>
          </a:xfrm>
          <a:prstGeom prst="rect">
            <a:avLst/>
          </a:prstGeom>
          <a:solidFill>
            <a:srgbClr val="1730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EE37FF0-D971-468D-81E3-7CEBC80C4EDB}"/>
              </a:ext>
            </a:extLst>
          </p:cNvPr>
          <p:cNvSpPr>
            <a:spLocks noGrp="1"/>
          </p:cNvSpPr>
          <p:nvPr/>
        </p:nvSpPr>
        <p:spPr>
          <a:xfrm>
            <a:off x="552450" y="3810000"/>
            <a:ext cx="11087100" cy="9525"/>
          </a:xfrm>
          <a:prstGeom prst="rect">
            <a:avLst/>
          </a:prstGeom>
          <a:solidFill>
            <a:srgbClr val="1730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AB762BF-9C52-485D-9A4B-42919710EF3D}"/>
              </a:ext>
            </a:extLst>
          </p:cNvPr>
          <p:cNvSpPr>
            <a:spLocks noGrp="1"/>
          </p:cNvSpPr>
          <p:nvPr/>
        </p:nvSpPr>
        <p:spPr>
          <a:xfrm>
            <a:off x="552450" y="4495800"/>
            <a:ext cx="11087100" cy="9525"/>
          </a:xfrm>
          <a:prstGeom prst="rect">
            <a:avLst/>
          </a:prstGeom>
          <a:solidFill>
            <a:srgbClr val="1730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EFD2E5A-0439-4579-8F0B-CB38EE52982D}"/>
              </a:ext>
            </a:extLst>
          </p:cNvPr>
          <p:cNvSpPr>
            <a:spLocks noGrp="1"/>
          </p:cNvSpPr>
          <p:nvPr/>
        </p:nvSpPr>
        <p:spPr>
          <a:xfrm>
            <a:off x="552450" y="5181600"/>
            <a:ext cx="11087100" cy="9525"/>
          </a:xfrm>
          <a:prstGeom prst="rect">
            <a:avLst/>
          </a:prstGeom>
          <a:solidFill>
            <a:srgbClr val="1730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BE6BF56-593A-4BF1-9A55-44B10D373548}"/>
              </a:ext>
            </a:extLst>
          </p:cNvPr>
          <p:cNvSpPr>
            <a:spLocks noGrp="1"/>
          </p:cNvSpPr>
          <p:nvPr/>
        </p:nvSpPr>
        <p:spPr>
          <a:xfrm>
            <a:off x="552450" y="5867400"/>
            <a:ext cx="11087100" cy="9525"/>
          </a:xfrm>
          <a:prstGeom prst="rect">
            <a:avLst/>
          </a:prstGeom>
          <a:solidFill>
            <a:srgbClr val="1730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27" name="kicker-3-marker">
            <a:extLst>
              <a:ext uri="{FF2B5EF4-FFF2-40B4-BE49-F238E27FC236}">
                <a16:creationId xmlns:a16="http://schemas.microsoft.com/office/drawing/2014/main" id="{35360BCB-9DAD-4DBF-8B5C-4CBCE2317274}"/>
              </a:ext>
            </a:extLst>
          </p:cNvPr>
          <p:cNvSpPr>
            <a:spLocks noGrp="1"/>
          </p:cNvSpPr>
          <p:nvPr/>
        </p:nvSpPr>
        <p:spPr>
          <a:xfrm>
            <a:off x="552450" y="419100"/>
            <a:ext cx="114300" cy="114300"/>
          </a:xfrm>
          <a:prstGeom prst="rect">
            <a:avLst/>
          </a:prstGeom>
          <a:solidFill>
            <a:srgbClr val="2DD4B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28" name="kicker-3-label">
            <a:extLst>
              <a:ext uri="{FF2B5EF4-FFF2-40B4-BE49-F238E27FC236}">
                <a16:creationId xmlns:a16="http://schemas.microsoft.com/office/drawing/2014/main" id="{ED65A96E-39AA-44B7-85BA-D25AADE96132}"/>
              </a:ext>
            </a:extLst>
          </p:cNvPr>
          <p:cNvSpPr>
            <a:spLocks noGrp="1"/>
          </p:cNvSpPr>
          <p:nvPr/>
        </p:nvSpPr>
        <p:spPr>
          <a:xfrm>
            <a:off x="781050" y="381000"/>
            <a:ext cx="3238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750" b="1">
                <a:solidFill>
                  <a:srgbClr val="9EB3B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9EB3BB"/>
                </a:solidFill>
                <a:latin typeface="Aptos"/>
                <a:ea typeface="Aptos"/>
                <a:cs typeface="Aptos"/>
              </a:rPr>
              <a:t>DISPOSITIVOS Y ORIGEN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CB8C4EB-1FFA-49B7-AE61-472B499156C0}"/>
              </a:ext>
            </a:extLst>
          </p:cNvPr>
          <p:cNvSpPr>
            <a:spLocks noGrp="1"/>
          </p:cNvSpPr>
          <p:nvPr/>
        </p:nvSpPr>
        <p:spPr>
          <a:xfrm>
            <a:off x="552450" y="742950"/>
            <a:ext cx="695325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F4FAF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4FAFB"/>
                </a:solidFill>
                <a:latin typeface="Aptos Display"/>
                <a:ea typeface="Aptos Display"/>
                <a:cs typeface="Aptos Display"/>
              </a:rPr>
              <a:t>Los periféricos convierten percepción y movimiento en datos útiles para el sistema.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852F2C9-6EAA-4062-BC24-22DA62619C3B}"/>
              </a:ext>
            </a:extLst>
          </p:cNvPr>
          <p:cNvSpPr>
            <a:spLocks noGrp="1"/>
          </p:cNvSpPr>
          <p:nvPr/>
        </p:nvSpPr>
        <p:spPr>
          <a:xfrm>
            <a:off x="552450" y="6238875"/>
            <a:ext cx="11087100" cy="9525"/>
          </a:xfrm>
          <a:prstGeom prst="rect">
            <a:avLst/>
          </a:prstGeom>
          <a:solidFill>
            <a:srgbClr val="2443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9BC49E4-850E-4A4C-8CB3-FBFB8D6FB78A}"/>
              </a:ext>
            </a:extLst>
          </p:cNvPr>
          <p:cNvSpPr>
            <a:spLocks noGrp="1"/>
          </p:cNvSpPr>
          <p:nvPr/>
        </p:nvSpPr>
        <p:spPr>
          <a:xfrm>
            <a:off x="552450" y="6381750"/>
            <a:ext cx="4191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9EB3B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EB3BB"/>
                </a:solidFill>
                <a:latin typeface="Aptos"/>
                <a:ea typeface="Aptos"/>
                <a:cs typeface="Aptos"/>
              </a:rPr>
              <a:t>Realidad virtual e inmersiva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6A3D8C0-996E-4D2D-9CD2-AB842B0A4C88}"/>
              </a:ext>
            </a:extLst>
          </p:cNvPr>
          <p:cNvSpPr>
            <a:spLocks noGrp="1"/>
          </p:cNvSpPr>
          <p:nvPr/>
        </p:nvSpPr>
        <p:spPr>
          <a:xfrm>
            <a:off x="11144250" y="6334125"/>
            <a:ext cx="4953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200" b="1">
                <a:solidFill>
                  <a:srgbClr val="9EB3B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9EB3B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27865B4-2D05-4897-9224-34FF09E8D95F}"/>
              </a:ext>
            </a:extLst>
          </p:cNvPr>
          <p:cNvSpPr>
            <a:spLocks noGrp="1"/>
          </p:cNvSpPr>
          <p:nvPr/>
        </p:nvSpPr>
        <p:spPr>
          <a:xfrm>
            <a:off x="552450" y="4810125"/>
            <a:ext cx="3124200" cy="1200150"/>
          </a:xfrm>
          <a:prstGeom prst="rect">
            <a:avLst/>
          </a:prstGeom>
          <a:solidFill>
            <a:srgbClr val="0D1B22"/>
          </a:solidFill>
          <a:ln w="9525">
            <a:solidFill>
              <a:srgbClr val="24434D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27A696B-A080-4C94-8512-80A49537A042}"/>
              </a:ext>
            </a:extLst>
          </p:cNvPr>
          <p:cNvSpPr>
            <a:spLocks noGrp="1"/>
          </p:cNvSpPr>
          <p:nvPr/>
        </p:nvSpPr>
        <p:spPr>
          <a:xfrm>
            <a:off x="552450" y="4810125"/>
            <a:ext cx="57150" cy="1200150"/>
          </a:xfrm>
          <a:prstGeom prst="rect">
            <a:avLst/>
          </a:prstGeom>
          <a:solidFill>
            <a:srgbClr val="2DD4B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0D212A1-2B8D-4CCE-A295-4E656A2C0F27}"/>
              </a:ext>
            </a:extLst>
          </p:cNvPr>
          <p:cNvSpPr>
            <a:spLocks noGrp="1"/>
          </p:cNvSpPr>
          <p:nvPr/>
        </p:nvSpPr>
        <p:spPr>
          <a:xfrm>
            <a:off x="742950" y="4981575"/>
            <a:ext cx="4381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2DD4B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2DD4BF"/>
                </a:solidFill>
                <a:latin typeface="Aptos Display"/>
                <a:ea typeface="Aptos Display"/>
                <a:cs typeface="Aptos Display"/>
              </a:rPr>
              <a:t>07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830BE02-5FC2-4CF8-9912-6311D23DF3D0}"/>
              </a:ext>
            </a:extLst>
          </p:cNvPr>
          <p:cNvSpPr>
            <a:spLocks noGrp="1"/>
          </p:cNvSpPr>
          <p:nvPr/>
        </p:nvSpPr>
        <p:spPr>
          <a:xfrm>
            <a:off x="1295400" y="4962525"/>
            <a:ext cx="2095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F4FAFB"/>
                </a:solidFill>
                <a:latin typeface="Aptos"/>
                <a:ea typeface="Aptos"/>
                <a:cs typeface="Aptos"/>
              </a:defRPr>
            </a:pPr>
            <a:r>
              <a:rPr lang="es-MX" sz="1125" b="1" dirty="0">
                <a:solidFill>
                  <a:srgbClr val="F4FAFB"/>
                </a:solidFill>
                <a:latin typeface="Aptos"/>
                <a:ea typeface="Aptos"/>
                <a:cs typeface="Aptos"/>
              </a:rPr>
              <a:t>Casco de Estereoscopía</a:t>
            </a:r>
            <a:endParaRPr sz="1125" b="1" dirty="0">
              <a:solidFill>
                <a:srgbClr val="F4FAF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FFBFA0B-42C3-4056-9B43-68E804A8E004}"/>
              </a:ext>
            </a:extLst>
          </p:cNvPr>
          <p:cNvSpPr>
            <a:spLocks noGrp="1"/>
          </p:cNvSpPr>
          <p:nvPr/>
        </p:nvSpPr>
        <p:spPr>
          <a:xfrm>
            <a:off x="1295400" y="5334000"/>
            <a:ext cx="2095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5" b="0">
                <a:solidFill>
                  <a:srgbClr val="9EB3BB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9EB3BB"/>
                </a:solidFill>
                <a:latin typeface="Aptos"/>
                <a:ea typeface="Aptos"/>
                <a:cs typeface="Aptos"/>
              </a:rPr>
              <a:t>Visor que presenta imágenes separadas para cada ojo y bloquea distracciones externas.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8A083CA-65C3-4EE6-AD05-0E62D7DF7FB7}"/>
              </a:ext>
            </a:extLst>
          </p:cNvPr>
          <p:cNvSpPr>
            <a:spLocks noGrp="1"/>
          </p:cNvSpPr>
          <p:nvPr/>
        </p:nvSpPr>
        <p:spPr>
          <a:xfrm>
            <a:off x="4533900" y="4810125"/>
            <a:ext cx="3124200" cy="1200150"/>
          </a:xfrm>
          <a:prstGeom prst="rect">
            <a:avLst/>
          </a:prstGeom>
          <a:solidFill>
            <a:srgbClr val="0D1B22"/>
          </a:solidFill>
          <a:ln w="9525">
            <a:solidFill>
              <a:srgbClr val="24434D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11836FC-9183-41F8-A231-F04334795650}"/>
              </a:ext>
            </a:extLst>
          </p:cNvPr>
          <p:cNvSpPr>
            <a:spLocks noGrp="1"/>
          </p:cNvSpPr>
          <p:nvPr/>
        </p:nvSpPr>
        <p:spPr>
          <a:xfrm>
            <a:off x="4533900" y="4810125"/>
            <a:ext cx="57150" cy="1200150"/>
          </a:xfrm>
          <a:prstGeom prst="rect">
            <a:avLst/>
          </a:prstGeom>
          <a:solidFill>
            <a:srgbClr val="60A5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B8E46C6-7139-4836-B20E-9DA666D3B29C}"/>
              </a:ext>
            </a:extLst>
          </p:cNvPr>
          <p:cNvSpPr>
            <a:spLocks noGrp="1"/>
          </p:cNvSpPr>
          <p:nvPr/>
        </p:nvSpPr>
        <p:spPr>
          <a:xfrm>
            <a:off x="4724400" y="4981575"/>
            <a:ext cx="4381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60A5FA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60A5FA"/>
                </a:solidFill>
                <a:latin typeface="Aptos Display"/>
                <a:ea typeface="Aptos Display"/>
                <a:cs typeface="Aptos Display"/>
              </a:rPr>
              <a:t>08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00459BB-5146-4A00-9573-E533832F4D3B}"/>
              </a:ext>
            </a:extLst>
          </p:cNvPr>
          <p:cNvSpPr>
            <a:spLocks noGrp="1"/>
          </p:cNvSpPr>
          <p:nvPr/>
        </p:nvSpPr>
        <p:spPr>
          <a:xfrm>
            <a:off x="5276850" y="4962525"/>
            <a:ext cx="2095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F4FAFB"/>
                </a:solidFill>
                <a:latin typeface="Aptos"/>
                <a:ea typeface="Aptos"/>
                <a:cs typeface="Aptos"/>
              </a:defRPr>
            </a:pPr>
            <a:r>
              <a:rPr sz="1125" b="1" dirty="0">
                <a:solidFill>
                  <a:srgbClr val="F4FAFB"/>
                </a:solidFill>
                <a:latin typeface="Aptos"/>
                <a:ea typeface="Aptos"/>
                <a:cs typeface="Aptos"/>
              </a:rPr>
              <a:t>Guante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2B3EFDCD-162A-4742-A78A-E2802848E937}"/>
              </a:ext>
            </a:extLst>
          </p:cNvPr>
          <p:cNvSpPr>
            <a:spLocks noGrp="1"/>
          </p:cNvSpPr>
          <p:nvPr/>
        </p:nvSpPr>
        <p:spPr>
          <a:xfrm>
            <a:off x="5276850" y="5334000"/>
            <a:ext cx="2095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5" b="0">
                <a:solidFill>
                  <a:srgbClr val="9EB3BB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9EB3BB"/>
                </a:solidFill>
                <a:latin typeface="Aptos"/>
                <a:ea typeface="Aptos"/>
                <a:cs typeface="Aptos"/>
              </a:rPr>
              <a:t>Dispositivo de entrada que captura gestos, posición de dedos y movimientos de la mano.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6DC86BAB-C8D6-4954-A933-3C863C1538C4}"/>
              </a:ext>
            </a:extLst>
          </p:cNvPr>
          <p:cNvSpPr>
            <a:spLocks noGrp="1"/>
          </p:cNvSpPr>
          <p:nvPr/>
        </p:nvSpPr>
        <p:spPr>
          <a:xfrm>
            <a:off x="8515350" y="4810125"/>
            <a:ext cx="3124200" cy="1200150"/>
          </a:xfrm>
          <a:prstGeom prst="rect">
            <a:avLst/>
          </a:prstGeom>
          <a:solidFill>
            <a:srgbClr val="0D1B22"/>
          </a:solidFill>
          <a:ln w="9525">
            <a:solidFill>
              <a:srgbClr val="24434D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182CBEB-E11F-46F8-B6A3-1AAF1EA4DA0A}"/>
              </a:ext>
            </a:extLst>
          </p:cNvPr>
          <p:cNvSpPr>
            <a:spLocks noGrp="1"/>
          </p:cNvSpPr>
          <p:nvPr/>
        </p:nvSpPr>
        <p:spPr>
          <a:xfrm>
            <a:off x="8515350" y="4810125"/>
            <a:ext cx="57150" cy="1200150"/>
          </a:xfrm>
          <a:prstGeom prst="rect">
            <a:avLst/>
          </a:prstGeom>
          <a:solidFill>
            <a:srgbClr val="FB718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F62DF14C-98BA-4379-A008-3F8596E40678}"/>
              </a:ext>
            </a:extLst>
          </p:cNvPr>
          <p:cNvSpPr>
            <a:spLocks noGrp="1"/>
          </p:cNvSpPr>
          <p:nvPr/>
        </p:nvSpPr>
        <p:spPr>
          <a:xfrm>
            <a:off x="8705850" y="4981575"/>
            <a:ext cx="4381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FB7185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B7185"/>
                </a:solidFill>
                <a:latin typeface="Aptos Display"/>
                <a:ea typeface="Aptos Display"/>
                <a:cs typeface="Aptos Display"/>
              </a:rPr>
              <a:t>09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7987D910-1FA4-4E5B-8D13-AE0AA614D0E3}"/>
              </a:ext>
            </a:extLst>
          </p:cNvPr>
          <p:cNvSpPr>
            <a:spLocks noGrp="1"/>
          </p:cNvSpPr>
          <p:nvPr/>
        </p:nvSpPr>
        <p:spPr>
          <a:xfrm>
            <a:off x="9258300" y="4962525"/>
            <a:ext cx="2095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F4FAF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4FAFB"/>
                </a:solidFill>
                <a:latin typeface="Aptos"/>
                <a:ea typeface="Aptos"/>
                <a:cs typeface="Aptos"/>
              </a:rPr>
              <a:t>NASA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92025ADC-4810-4ED0-89EF-D784AAEE15C8}"/>
              </a:ext>
            </a:extLst>
          </p:cNvPr>
          <p:cNvSpPr>
            <a:spLocks noGrp="1"/>
          </p:cNvSpPr>
          <p:nvPr/>
        </p:nvSpPr>
        <p:spPr>
          <a:xfrm>
            <a:off x="9258300" y="5334000"/>
            <a:ext cx="2095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5" b="0">
                <a:solidFill>
                  <a:srgbClr val="9EB3BB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9EB3BB"/>
                </a:solidFill>
                <a:latin typeface="Aptos"/>
                <a:ea typeface="Aptos"/>
                <a:cs typeface="Aptos"/>
              </a:rPr>
              <a:t>Institución clave en investigación de simulación, visualización espacial y teleoperación inmersiva.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4A10F190-D5ED-413D-83A2-AE07CC928075}"/>
              </a:ext>
            </a:extLst>
          </p:cNvPr>
          <p:cNvSpPr>
            <a:spLocks noGrp="1"/>
          </p:cNvSpPr>
          <p:nvPr/>
        </p:nvSpPr>
        <p:spPr>
          <a:xfrm>
            <a:off x="5829300" y="2609850"/>
            <a:ext cx="552450" cy="914400"/>
          </a:xfrm>
          <a:prstGeom prst="rect">
            <a:avLst/>
          </a:prstGeom>
          <a:solidFill>
            <a:srgbClr val="10262E"/>
          </a:solidFill>
          <a:ln w="1905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227CD5FA-432B-4CF0-9542-9002111A3B56}"/>
              </a:ext>
            </a:extLst>
          </p:cNvPr>
          <p:cNvSpPr>
            <a:spLocks noGrp="1"/>
          </p:cNvSpPr>
          <p:nvPr/>
        </p:nvSpPr>
        <p:spPr>
          <a:xfrm>
            <a:off x="5276850" y="2209800"/>
            <a:ext cx="247650" cy="876300"/>
          </a:xfrm>
          <a:prstGeom prst="rect">
            <a:avLst/>
          </a:prstGeom>
          <a:solidFill>
            <a:srgbClr val="10262E"/>
          </a:solidFill>
          <a:ln w="1905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5D7CD6EB-A6D7-4897-8A4E-A80B9DC5BD93}"/>
              </a:ext>
            </a:extLst>
          </p:cNvPr>
          <p:cNvSpPr>
            <a:spLocks noGrp="1"/>
          </p:cNvSpPr>
          <p:nvPr/>
        </p:nvSpPr>
        <p:spPr>
          <a:xfrm>
            <a:off x="5600700" y="2057400"/>
            <a:ext cx="247650" cy="1009650"/>
          </a:xfrm>
          <a:prstGeom prst="rect">
            <a:avLst/>
          </a:prstGeom>
          <a:solidFill>
            <a:srgbClr val="10262E"/>
          </a:solidFill>
          <a:ln w="1905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60D216F1-7F62-490F-98D1-14D197CE33FD}"/>
              </a:ext>
            </a:extLst>
          </p:cNvPr>
          <p:cNvSpPr>
            <a:spLocks noGrp="1"/>
          </p:cNvSpPr>
          <p:nvPr/>
        </p:nvSpPr>
        <p:spPr>
          <a:xfrm>
            <a:off x="5924550" y="2038350"/>
            <a:ext cx="247650" cy="1009650"/>
          </a:xfrm>
          <a:prstGeom prst="rect">
            <a:avLst/>
          </a:prstGeom>
          <a:solidFill>
            <a:srgbClr val="10262E"/>
          </a:solidFill>
          <a:ln w="1905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27FB46F5-D91C-4E49-B7C7-E8C8B3977B3F}"/>
              </a:ext>
            </a:extLst>
          </p:cNvPr>
          <p:cNvSpPr>
            <a:spLocks noGrp="1"/>
          </p:cNvSpPr>
          <p:nvPr/>
        </p:nvSpPr>
        <p:spPr>
          <a:xfrm>
            <a:off x="6248400" y="2152650"/>
            <a:ext cx="247650" cy="914400"/>
          </a:xfrm>
          <a:prstGeom prst="rect">
            <a:avLst/>
          </a:prstGeom>
          <a:solidFill>
            <a:srgbClr val="10262E"/>
          </a:solidFill>
          <a:ln w="1905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0B52B19F-755A-423F-8C22-6430917EC140}"/>
              </a:ext>
            </a:extLst>
          </p:cNvPr>
          <p:cNvSpPr>
            <a:spLocks noGrp="1"/>
          </p:cNvSpPr>
          <p:nvPr/>
        </p:nvSpPr>
        <p:spPr>
          <a:xfrm>
            <a:off x="6572250" y="2381250"/>
            <a:ext cx="247650" cy="742950"/>
          </a:xfrm>
          <a:prstGeom prst="rect">
            <a:avLst/>
          </a:prstGeom>
          <a:solidFill>
            <a:srgbClr val="10262E"/>
          </a:solidFill>
          <a:ln w="1905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FF5AD53D-BC81-494F-B137-6AF90E7DE796}"/>
              </a:ext>
            </a:extLst>
          </p:cNvPr>
          <p:cNvSpPr>
            <a:spLocks noGrp="1"/>
          </p:cNvSpPr>
          <p:nvPr/>
        </p:nvSpPr>
        <p:spPr>
          <a:xfrm>
            <a:off x="5962650" y="3028950"/>
            <a:ext cx="304800" cy="304800"/>
          </a:xfrm>
          <a:prstGeom prst="ellipse">
            <a:avLst/>
          </a:prstGeom>
          <a:solidFill>
            <a:srgbClr val="60A5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46C20D15-BA6B-48E4-8F6C-797C73EE613F}"/>
              </a:ext>
            </a:extLst>
          </p:cNvPr>
          <p:cNvSpPr>
            <a:spLocks noGrp="1"/>
          </p:cNvSpPr>
          <p:nvPr/>
        </p:nvSpPr>
        <p:spPr>
          <a:xfrm>
            <a:off x="5429250" y="3524250"/>
            <a:ext cx="13525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F4FAF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4FAFB"/>
                </a:solidFill>
                <a:latin typeface="Aptos"/>
                <a:ea typeface="Aptos"/>
                <a:cs typeface="Aptos"/>
              </a:rPr>
              <a:t>gestos capturados</a:t>
            </a: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FAE632AD-FEC0-4197-B791-5836E01FB0B2}"/>
              </a:ext>
            </a:extLst>
          </p:cNvPr>
          <p:cNvSpPr>
            <a:spLocks noGrp="1"/>
          </p:cNvSpPr>
          <p:nvPr/>
        </p:nvSpPr>
        <p:spPr>
          <a:xfrm>
            <a:off x="8915400" y="2286000"/>
            <a:ext cx="1143000" cy="1143000"/>
          </a:xfrm>
          <a:prstGeom prst="ellipse">
            <a:avLst/>
          </a:prstGeom>
          <a:solidFill>
            <a:srgbClr val="10262E"/>
          </a:solidFill>
          <a:ln w="1905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FC438140-F900-492F-ADD6-DD622E1150ED}"/>
              </a:ext>
            </a:extLst>
          </p:cNvPr>
          <p:cNvSpPr>
            <a:spLocks noGrp="1"/>
          </p:cNvSpPr>
          <p:nvPr/>
        </p:nvSpPr>
        <p:spPr>
          <a:xfrm>
            <a:off x="9277350" y="2647950"/>
            <a:ext cx="419100" cy="419100"/>
          </a:xfrm>
          <a:prstGeom prst="ellipse">
            <a:avLst/>
          </a:prstGeom>
          <a:solidFill>
            <a:srgbClr val="FB718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C5A19E02-5882-4494-9215-5AFE73C18CA1}"/>
              </a:ext>
            </a:extLst>
          </p:cNvPr>
          <p:cNvSpPr>
            <a:spLocks noGrp="1"/>
          </p:cNvSpPr>
          <p:nvPr/>
        </p:nvSpPr>
        <p:spPr>
          <a:xfrm>
            <a:off x="9486900" y="1847850"/>
            <a:ext cx="9525" cy="2000250"/>
          </a:xfrm>
          <a:prstGeom prst="rect">
            <a:avLst/>
          </a:prstGeom>
          <a:solidFill>
            <a:srgbClr val="2443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066D5E43-7DF9-40CA-8FA5-147381D9C39A}"/>
              </a:ext>
            </a:extLst>
          </p:cNvPr>
          <p:cNvSpPr>
            <a:spLocks noGrp="1"/>
          </p:cNvSpPr>
          <p:nvPr/>
        </p:nvSpPr>
        <p:spPr>
          <a:xfrm>
            <a:off x="8496300" y="2857500"/>
            <a:ext cx="2114550" cy="9525"/>
          </a:xfrm>
          <a:prstGeom prst="rect">
            <a:avLst/>
          </a:prstGeom>
          <a:solidFill>
            <a:srgbClr val="2443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678DB0B3-05C7-4AD3-B204-D79DF2DAF6A2}"/>
              </a:ext>
            </a:extLst>
          </p:cNvPr>
          <p:cNvSpPr>
            <a:spLocks noGrp="1"/>
          </p:cNvSpPr>
          <p:nvPr/>
        </p:nvSpPr>
        <p:spPr>
          <a:xfrm>
            <a:off x="8763000" y="3562350"/>
            <a:ext cx="16383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F4FAF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4FAFB"/>
                </a:solidFill>
                <a:latin typeface="Aptos"/>
                <a:ea typeface="Aptos"/>
                <a:cs typeface="Aptos"/>
              </a:rPr>
              <a:t>simulación espacial</a:t>
            </a:r>
          </a:p>
        </p:txBody>
      </p:sp>
      <p:pic>
        <p:nvPicPr>
          <p:cNvPr id="4098" name="Picture 2" descr="Sega VR | IDIS">
            <a:extLst>
              <a:ext uri="{FF2B5EF4-FFF2-40B4-BE49-F238E27FC236}">
                <a16:creationId xmlns:a16="http://schemas.microsoft.com/office/drawing/2014/main" id="{31A21D7C-1E03-5C8D-CB1A-407B723414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5984" y="1571625"/>
            <a:ext cx="2279656" cy="3076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MAEVEN Guantes de inercia VR MHand, Guantes de Captura de Movimiento VR,  Guantes de reconocimiento de Gestos, Guantes de Datos Inteligentes  interactivos virtuales (Color : L Full) : Amazon.com.mx: Videojuegos">
            <a:extLst>
              <a:ext uri="{FF2B5EF4-FFF2-40B4-BE49-F238E27FC236}">
                <a16:creationId xmlns:a16="http://schemas.microsoft.com/office/drawing/2014/main" id="{5AA580FD-06AE-4A2B-E04F-159EE6FD1E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1695450"/>
            <a:ext cx="2662734" cy="2719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Cómo la NASA utiliza la realidad virtual para sus investigaciones en la  Luna - NASA Ciencia">
            <a:extLst>
              <a:ext uri="{FF2B5EF4-FFF2-40B4-BE49-F238E27FC236}">
                <a16:creationId xmlns:a16="http://schemas.microsoft.com/office/drawing/2014/main" id="{4C1A99E7-3B15-61F5-FC5D-9CB882A7D5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2500" y="2126573"/>
            <a:ext cx="2926545" cy="19501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053704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Rectangle 78">
            <a:extLst>
              <a:ext uri="{FF2B5EF4-FFF2-40B4-BE49-F238E27FC236}">
                <a16:creationId xmlns:a16="http://schemas.microsoft.com/office/drawing/2014/main" id="{52879239-A1D6-411A-A638-547C883753C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01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228E52F-96E8-45D6-AB0A-5568A6AC8AD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01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FFBFB1D-1A3B-456D-AD17-CBA74BB39C79}"/>
              </a:ext>
            </a:extLst>
          </p:cNvPr>
          <p:cNvSpPr>
            <a:spLocks noGrp="1"/>
          </p:cNvSpPr>
          <p:nvPr/>
        </p:nvSpPr>
        <p:spPr>
          <a:xfrm>
            <a:off x="685800" y="1028700"/>
            <a:ext cx="9525" cy="4762500"/>
          </a:xfrm>
          <a:prstGeom prst="rect">
            <a:avLst/>
          </a:prstGeom>
          <a:solidFill>
            <a:srgbClr val="1730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76DBA1A-E2FA-4F00-B2A7-BE16397F4E26}"/>
              </a:ext>
            </a:extLst>
          </p:cNvPr>
          <p:cNvSpPr>
            <a:spLocks noGrp="1"/>
          </p:cNvSpPr>
          <p:nvPr/>
        </p:nvSpPr>
        <p:spPr>
          <a:xfrm>
            <a:off x="1371600" y="1028700"/>
            <a:ext cx="9525" cy="4762500"/>
          </a:xfrm>
          <a:prstGeom prst="rect">
            <a:avLst/>
          </a:prstGeom>
          <a:solidFill>
            <a:srgbClr val="1730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15BD6D3-7FD1-454A-9295-805049E644D7}"/>
              </a:ext>
            </a:extLst>
          </p:cNvPr>
          <p:cNvSpPr>
            <a:spLocks noGrp="1"/>
          </p:cNvSpPr>
          <p:nvPr/>
        </p:nvSpPr>
        <p:spPr>
          <a:xfrm>
            <a:off x="2057400" y="1028700"/>
            <a:ext cx="9525" cy="4762500"/>
          </a:xfrm>
          <a:prstGeom prst="rect">
            <a:avLst/>
          </a:prstGeom>
          <a:solidFill>
            <a:srgbClr val="1730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8CEE46F-8C7E-4CA8-A760-5B53934310D8}"/>
              </a:ext>
            </a:extLst>
          </p:cNvPr>
          <p:cNvSpPr>
            <a:spLocks noGrp="1"/>
          </p:cNvSpPr>
          <p:nvPr/>
        </p:nvSpPr>
        <p:spPr>
          <a:xfrm>
            <a:off x="2743200" y="1028700"/>
            <a:ext cx="9525" cy="4762500"/>
          </a:xfrm>
          <a:prstGeom prst="rect">
            <a:avLst/>
          </a:prstGeom>
          <a:solidFill>
            <a:srgbClr val="1730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22D9A2E-A38A-4E45-B88D-E0BE314BE08A}"/>
              </a:ext>
            </a:extLst>
          </p:cNvPr>
          <p:cNvSpPr>
            <a:spLocks noGrp="1"/>
          </p:cNvSpPr>
          <p:nvPr/>
        </p:nvSpPr>
        <p:spPr>
          <a:xfrm>
            <a:off x="3429000" y="1028700"/>
            <a:ext cx="9525" cy="4762500"/>
          </a:xfrm>
          <a:prstGeom prst="rect">
            <a:avLst/>
          </a:prstGeom>
          <a:solidFill>
            <a:srgbClr val="1730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526BCCF-69F5-40F4-A78B-0F63E6A48C8D}"/>
              </a:ext>
            </a:extLst>
          </p:cNvPr>
          <p:cNvSpPr>
            <a:spLocks noGrp="1"/>
          </p:cNvSpPr>
          <p:nvPr/>
        </p:nvSpPr>
        <p:spPr>
          <a:xfrm>
            <a:off x="4114800" y="1028700"/>
            <a:ext cx="9525" cy="4762500"/>
          </a:xfrm>
          <a:prstGeom prst="rect">
            <a:avLst/>
          </a:prstGeom>
          <a:solidFill>
            <a:srgbClr val="1730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4FFD5FE-A41A-4F4C-A8D9-F09F3A111686}"/>
              </a:ext>
            </a:extLst>
          </p:cNvPr>
          <p:cNvSpPr>
            <a:spLocks noGrp="1"/>
          </p:cNvSpPr>
          <p:nvPr/>
        </p:nvSpPr>
        <p:spPr>
          <a:xfrm>
            <a:off x="4800600" y="1028700"/>
            <a:ext cx="9525" cy="4762500"/>
          </a:xfrm>
          <a:prstGeom prst="rect">
            <a:avLst/>
          </a:prstGeom>
          <a:solidFill>
            <a:srgbClr val="1730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70AA1CD-9083-40A5-9E14-35E89C16EFBD}"/>
              </a:ext>
            </a:extLst>
          </p:cNvPr>
          <p:cNvSpPr>
            <a:spLocks noGrp="1"/>
          </p:cNvSpPr>
          <p:nvPr/>
        </p:nvSpPr>
        <p:spPr>
          <a:xfrm>
            <a:off x="5486400" y="1028700"/>
            <a:ext cx="9525" cy="4762500"/>
          </a:xfrm>
          <a:prstGeom prst="rect">
            <a:avLst/>
          </a:prstGeom>
          <a:solidFill>
            <a:srgbClr val="1730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4E5C432-308B-4574-AA1B-F3DD83BC0ABD}"/>
              </a:ext>
            </a:extLst>
          </p:cNvPr>
          <p:cNvSpPr>
            <a:spLocks noGrp="1"/>
          </p:cNvSpPr>
          <p:nvPr/>
        </p:nvSpPr>
        <p:spPr>
          <a:xfrm>
            <a:off x="6172200" y="1028700"/>
            <a:ext cx="9525" cy="4762500"/>
          </a:xfrm>
          <a:prstGeom prst="rect">
            <a:avLst/>
          </a:prstGeom>
          <a:solidFill>
            <a:srgbClr val="1730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29232C5-3A01-45B0-830F-AFEAC0093B25}"/>
              </a:ext>
            </a:extLst>
          </p:cNvPr>
          <p:cNvSpPr>
            <a:spLocks noGrp="1"/>
          </p:cNvSpPr>
          <p:nvPr/>
        </p:nvSpPr>
        <p:spPr>
          <a:xfrm>
            <a:off x="6858000" y="1028700"/>
            <a:ext cx="9525" cy="4762500"/>
          </a:xfrm>
          <a:prstGeom prst="rect">
            <a:avLst/>
          </a:prstGeom>
          <a:solidFill>
            <a:srgbClr val="1730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799D2E6-8B2A-42C7-B1C5-A2E0CE63E2F2}"/>
              </a:ext>
            </a:extLst>
          </p:cNvPr>
          <p:cNvSpPr>
            <a:spLocks noGrp="1"/>
          </p:cNvSpPr>
          <p:nvPr/>
        </p:nvSpPr>
        <p:spPr>
          <a:xfrm>
            <a:off x="7543800" y="1028700"/>
            <a:ext cx="9525" cy="4762500"/>
          </a:xfrm>
          <a:prstGeom prst="rect">
            <a:avLst/>
          </a:prstGeom>
          <a:solidFill>
            <a:srgbClr val="1730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7F27875-80C5-4054-8DBC-E0381F96C122}"/>
              </a:ext>
            </a:extLst>
          </p:cNvPr>
          <p:cNvSpPr>
            <a:spLocks noGrp="1"/>
          </p:cNvSpPr>
          <p:nvPr/>
        </p:nvSpPr>
        <p:spPr>
          <a:xfrm>
            <a:off x="8229600" y="1028700"/>
            <a:ext cx="9525" cy="4762500"/>
          </a:xfrm>
          <a:prstGeom prst="rect">
            <a:avLst/>
          </a:prstGeom>
          <a:solidFill>
            <a:srgbClr val="1730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92E5EFE-6C12-4046-8005-32636BC71678}"/>
              </a:ext>
            </a:extLst>
          </p:cNvPr>
          <p:cNvSpPr>
            <a:spLocks noGrp="1"/>
          </p:cNvSpPr>
          <p:nvPr/>
        </p:nvSpPr>
        <p:spPr>
          <a:xfrm>
            <a:off x="8915400" y="1028700"/>
            <a:ext cx="9525" cy="4762500"/>
          </a:xfrm>
          <a:prstGeom prst="rect">
            <a:avLst/>
          </a:prstGeom>
          <a:solidFill>
            <a:srgbClr val="1730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E10B2E9-44F3-4B29-B2A3-8D8036586BEC}"/>
              </a:ext>
            </a:extLst>
          </p:cNvPr>
          <p:cNvSpPr>
            <a:spLocks noGrp="1"/>
          </p:cNvSpPr>
          <p:nvPr/>
        </p:nvSpPr>
        <p:spPr>
          <a:xfrm>
            <a:off x="9601200" y="1028700"/>
            <a:ext cx="9525" cy="4762500"/>
          </a:xfrm>
          <a:prstGeom prst="rect">
            <a:avLst/>
          </a:prstGeom>
          <a:solidFill>
            <a:srgbClr val="1730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E2E0188-6FCF-4721-BC91-EA61BABBB4E5}"/>
              </a:ext>
            </a:extLst>
          </p:cNvPr>
          <p:cNvSpPr>
            <a:spLocks noGrp="1"/>
          </p:cNvSpPr>
          <p:nvPr/>
        </p:nvSpPr>
        <p:spPr>
          <a:xfrm>
            <a:off x="10287000" y="1028700"/>
            <a:ext cx="9525" cy="4762500"/>
          </a:xfrm>
          <a:prstGeom prst="rect">
            <a:avLst/>
          </a:prstGeom>
          <a:solidFill>
            <a:srgbClr val="1730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5776F53-9DCE-4416-9515-4C88D3D61584}"/>
              </a:ext>
            </a:extLst>
          </p:cNvPr>
          <p:cNvSpPr>
            <a:spLocks noGrp="1"/>
          </p:cNvSpPr>
          <p:nvPr/>
        </p:nvSpPr>
        <p:spPr>
          <a:xfrm>
            <a:off x="10972800" y="1028700"/>
            <a:ext cx="9525" cy="4762500"/>
          </a:xfrm>
          <a:prstGeom prst="rect">
            <a:avLst/>
          </a:prstGeom>
          <a:solidFill>
            <a:srgbClr val="1730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C0516A3-F61F-467C-94AD-D1C627B6BC50}"/>
              </a:ext>
            </a:extLst>
          </p:cNvPr>
          <p:cNvSpPr>
            <a:spLocks noGrp="1"/>
          </p:cNvSpPr>
          <p:nvPr/>
        </p:nvSpPr>
        <p:spPr>
          <a:xfrm>
            <a:off x="552450" y="1066800"/>
            <a:ext cx="11087100" cy="9525"/>
          </a:xfrm>
          <a:prstGeom prst="rect">
            <a:avLst/>
          </a:prstGeom>
          <a:solidFill>
            <a:srgbClr val="1730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0437679-86BA-42B7-9742-C466214F3505}"/>
              </a:ext>
            </a:extLst>
          </p:cNvPr>
          <p:cNvSpPr>
            <a:spLocks noGrp="1"/>
          </p:cNvSpPr>
          <p:nvPr/>
        </p:nvSpPr>
        <p:spPr>
          <a:xfrm>
            <a:off x="552450" y="1752600"/>
            <a:ext cx="11087100" cy="9525"/>
          </a:xfrm>
          <a:prstGeom prst="rect">
            <a:avLst/>
          </a:prstGeom>
          <a:solidFill>
            <a:srgbClr val="1730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AF1B2AD-E39D-471A-B0CD-EC6EF79EE453}"/>
              </a:ext>
            </a:extLst>
          </p:cNvPr>
          <p:cNvSpPr>
            <a:spLocks noGrp="1"/>
          </p:cNvSpPr>
          <p:nvPr/>
        </p:nvSpPr>
        <p:spPr>
          <a:xfrm>
            <a:off x="552450" y="2438400"/>
            <a:ext cx="11087100" cy="9525"/>
          </a:xfrm>
          <a:prstGeom prst="rect">
            <a:avLst/>
          </a:prstGeom>
          <a:solidFill>
            <a:srgbClr val="1730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9489F33-7AB3-47C3-B2A9-1B476A8F239A}"/>
              </a:ext>
            </a:extLst>
          </p:cNvPr>
          <p:cNvSpPr>
            <a:spLocks noGrp="1"/>
          </p:cNvSpPr>
          <p:nvPr/>
        </p:nvSpPr>
        <p:spPr>
          <a:xfrm>
            <a:off x="552450" y="3124200"/>
            <a:ext cx="11087100" cy="9525"/>
          </a:xfrm>
          <a:prstGeom prst="rect">
            <a:avLst/>
          </a:prstGeom>
          <a:solidFill>
            <a:srgbClr val="1730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F718937-F1D7-4B15-9D8D-2F19E0932627}"/>
              </a:ext>
            </a:extLst>
          </p:cNvPr>
          <p:cNvSpPr>
            <a:spLocks noGrp="1"/>
          </p:cNvSpPr>
          <p:nvPr/>
        </p:nvSpPr>
        <p:spPr>
          <a:xfrm>
            <a:off x="552450" y="3810000"/>
            <a:ext cx="11087100" cy="9525"/>
          </a:xfrm>
          <a:prstGeom prst="rect">
            <a:avLst/>
          </a:prstGeom>
          <a:solidFill>
            <a:srgbClr val="1730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23ACCA9-E621-4B34-86E5-1276B5E026D0}"/>
              </a:ext>
            </a:extLst>
          </p:cNvPr>
          <p:cNvSpPr>
            <a:spLocks noGrp="1"/>
          </p:cNvSpPr>
          <p:nvPr/>
        </p:nvSpPr>
        <p:spPr>
          <a:xfrm>
            <a:off x="552450" y="4495800"/>
            <a:ext cx="11087100" cy="9525"/>
          </a:xfrm>
          <a:prstGeom prst="rect">
            <a:avLst/>
          </a:prstGeom>
          <a:solidFill>
            <a:srgbClr val="1730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5881CAD-0E8D-4BF1-B987-7D0D8BF938EE}"/>
              </a:ext>
            </a:extLst>
          </p:cNvPr>
          <p:cNvSpPr>
            <a:spLocks noGrp="1"/>
          </p:cNvSpPr>
          <p:nvPr/>
        </p:nvSpPr>
        <p:spPr>
          <a:xfrm>
            <a:off x="552450" y="5181600"/>
            <a:ext cx="11087100" cy="9525"/>
          </a:xfrm>
          <a:prstGeom prst="rect">
            <a:avLst/>
          </a:prstGeom>
          <a:solidFill>
            <a:srgbClr val="1730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C4F424A-7577-40A2-90F1-1B3336DCBD46}"/>
              </a:ext>
            </a:extLst>
          </p:cNvPr>
          <p:cNvSpPr>
            <a:spLocks noGrp="1"/>
          </p:cNvSpPr>
          <p:nvPr/>
        </p:nvSpPr>
        <p:spPr>
          <a:xfrm>
            <a:off x="552450" y="5867400"/>
            <a:ext cx="11087100" cy="9525"/>
          </a:xfrm>
          <a:prstGeom prst="rect">
            <a:avLst/>
          </a:prstGeom>
          <a:solidFill>
            <a:srgbClr val="1730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27" name="kicker-4-marker">
            <a:extLst>
              <a:ext uri="{FF2B5EF4-FFF2-40B4-BE49-F238E27FC236}">
                <a16:creationId xmlns:a16="http://schemas.microsoft.com/office/drawing/2014/main" id="{F6229DC0-9202-4591-AD7D-F41BC75EE042}"/>
              </a:ext>
            </a:extLst>
          </p:cNvPr>
          <p:cNvSpPr>
            <a:spLocks noGrp="1"/>
          </p:cNvSpPr>
          <p:nvPr/>
        </p:nvSpPr>
        <p:spPr>
          <a:xfrm>
            <a:off x="552450" y="419100"/>
            <a:ext cx="114300" cy="114300"/>
          </a:xfrm>
          <a:prstGeom prst="rect">
            <a:avLst/>
          </a:prstGeom>
          <a:solidFill>
            <a:srgbClr val="2DD4B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28" name="kicker-4-label">
            <a:extLst>
              <a:ext uri="{FF2B5EF4-FFF2-40B4-BE49-F238E27FC236}">
                <a16:creationId xmlns:a16="http://schemas.microsoft.com/office/drawing/2014/main" id="{9BDCC934-F395-4BA3-8EF3-5082BB3A91A3}"/>
              </a:ext>
            </a:extLst>
          </p:cNvPr>
          <p:cNvSpPr>
            <a:spLocks noGrp="1"/>
          </p:cNvSpPr>
          <p:nvPr/>
        </p:nvSpPr>
        <p:spPr>
          <a:xfrm>
            <a:off x="781050" y="381000"/>
            <a:ext cx="3238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750" b="1">
                <a:solidFill>
                  <a:srgbClr val="9EB3B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9EB3BB"/>
                </a:solidFill>
                <a:latin typeface="Aptos"/>
                <a:ea typeface="Aptos"/>
                <a:cs typeface="Aptos"/>
              </a:rPr>
              <a:t>EXTENSIÓN INMERSIVA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FBE50BF-3CAF-466F-87F3-28B351F61CF1}"/>
              </a:ext>
            </a:extLst>
          </p:cNvPr>
          <p:cNvSpPr>
            <a:spLocks noGrp="1"/>
          </p:cNvSpPr>
          <p:nvPr/>
        </p:nvSpPr>
        <p:spPr>
          <a:xfrm>
            <a:off x="552450" y="742950"/>
            <a:ext cx="695325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F4FAF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4FAFB"/>
                </a:solidFill>
                <a:latin typeface="Aptos Display"/>
                <a:ea typeface="Aptos Display"/>
                <a:cs typeface="Aptos Display"/>
              </a:rPr>
              <a:t>La realidad se amplía cuando espacio, sonido, presencia remota y visor trabajan juntos.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D9AFA39-22DB-47E0-8FA2-B39FFEFB6ED9}"/>
              </a:ext>
            </a:extLst>
          </p:cNvPr>
          <p:cNvSpPr>
            <a:spLocks noGrp="1"/>
          </p:cNvSpPr>
          <p:nvPr/>
        </p:nvSpPr>
        <p:spPr>
          <a:xfrm>
            <a:off x="552450" y="6238875"/>
            <a:ext cx="11087100" cy="9525"/>
          </a:xfrm>
          <a:prstGeom prst="rect">
            <a:avLst/>
          </a:prstGeom>
          <a:solidFill>
            <a:srgbClr val="2443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9EB9F5A-AEF9-4E50-9E47-427263EA9849}"/>
              </a:ext>
            </a:extLst>
          </p:cNvPr>
          <p:cNvSpPr>
            <a:spLocks noGrp="1"/>
          </p:cNvSpPr>
          <p:nvPr/>
        </p:nvSpPr>
        <p:spPr>
          <a:xfrm>
            <a:off x="552450" y="6381750"/>
            <a:ext cx="4191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9EB3B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EB3BB"/>
                </a:solidFill>
                <a:latin typeface="Aptos"/>
                <a:ea typeface="Aptos"/>
                <a:cs typeface="Aptos"/>
              </a:rPr>
              <a:t>Realidad virtual e inmersiva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44B4D05-F2AC-4ED5-9D86-478803684594}"/>
              </a:ext>
            </a:extLst>
          </p:cNvPr>
          <p:cNvSpPr>
            <a:spLocks noGrp="1"/>
          </p:cNvSpPr>
          <p:nvPr/>
        </p:nvSpPr>
        <p:spPr>
          <a:xfrm>
            <a:off x="11144250" y="6334125"/>
            <a:ext cx="4953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200" b="1">
                <a:solidFill>
                  <a:srgbClr val="9EB3B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9EB3B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46481CC-D093-4FDD-907C-3FA0349FC50A}"/>
              </a:ext>
            </a:extLst>
          </p:cNvPr>
          <p:cNvSpPr>
            <a:spLocks noGrp="1"/>
          </p:cNvSpPr>
          <p:nvPr/>
        </p:nvSpPr>
        <p:spPr>
          <a:xfrm>
            <a:off x="552450" y="4762500"/>
            <a:ext cx="2457450" cy="1123950"/>
          </a:xfrm>
          <a:prstGeom prst="rect">
            <a:avLst/>
          </a:prstGeom>
          <a:solidFill>
            <a:srgbClr val="0D1B22"/>
          </a:solidFill>
          <a:ln w="9525">
            <a:solidFill>
              <a:srgbClr val="24434D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DCD225F-52A7-4719-BE11-DDD9F692F3F2}"/>
              </a:ext>
            </a:extLst>
          </p:cNvPr>
          <p:cNvSpPr>
            <a:spLocks noGrp="1"/>
          </p:cNvSpPr>
          <p:nvPr/>
        </p:nvSpPr>
        <p:spPr>
          <a:xfrm>
            <a:off x="552450" y="4762500"/>
            <a:ext cx="47625" cy="1123950"/>
          </a:xfrm>
          <a:prstGeom prst="rect">
            <a:avLst/>
          </a:prstGeom>
          <a:solidFill>
            <a:srgbClr val="2DD4B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263F4DA-651B-45F4-BDC9-87044690FF0D}"/>
              </a:ext>
            </a:extLst>
          </p:cNvPr>
          <p:cNvSpPr>
            <a:spLocks noGrp="1"/>
          </p:cNvSpPr>
          <p:nvPr/>
        </p:nvSpPr>
        <p:spPr>
          <a:xfrm>
            <a:off x="704850" y="4905375"/>
            <a:ext cx="3619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2DD4B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2DD4BF"/>
                </a:solidFill>
                <a:latin typeface="Aptos Display"/>
                <a:ea typeface="Aptos Display"/>
                <a:cs typeface="Aptos Display"/>
              </a:rPr>
              <a:t>10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F1C3E7E-DE55-4F6E-B62F-596426D44028}"/>
              </a:ext>
            </a:extLst>
          </p:cNvPr>
          <p:cNvSpPr>
            <a:spLocks noGrp="1"/>
          </p:cNvSpPr>
          <p:nvPr/>
        </p:nvSpPr>
        <p:spPr>
          <a:xfrm>
            <a:off x="1143000" y="4895850"/>
            <a:ext cx="1657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1">
                <a:solidFill>
                  <a:srgbClr val="F4FAFB"/>
                </a:solidFill>
                <a:latin typeface="Aptos"/>
                <a:ea typeface="Aptos"/>
                <a:cs typeface="Aptos"/>
              </a:defRPr>
            </a:pPr>
            <a:r>
              <a:rPr sz="1013" b="1" dirty="0" err="1">
                <a:solidFill>
                  <a:srgbClr val="F4FAFB"/>
                </a:solidFill>
                <a:latin typeface="Aptos"/>
                <a:ea typeface="Aptos"/>
                <a:cs typeface="Aptos"/>
              </a:rPr>
              <a:t>Navegación</a:t>
            </a:r>
            <a:r>
              <a:rPr sz="1013" b="1" dirty="0">
                <a:solidFill>
                  <a:srgbClr val="F4FAFB"/>
                </a:solidFill>
                <a:latin typeface="Aptos"/>
                <a:ea typeface="Aptos"/>
                <a:cs typeface="Aptos"/>
              </a:rPr>
              <a:t> </a:t>
            </a:r>
            <a:r>
              <a:rPr sz="1013" b="1" dirty="0" err="1">
                <a:solidFill>
                  <a:srgbClr val="F4FAFB"/>
                </a:solidFill>
                <a:latin typeface="Aptos"/>
                <a:ea typeface="Aptos"/>
                <a:cs typeface="Aptos"/>
              </a:rPr>
              <a:t>espacial</a:t>
            </a:r>
            <a:endParaRPr sz="1013" b="1" dirty="0">
              <a:solidFill>
                <a:srgbClr val="F4FAF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A931D80-886A-4691-9359-88EB5DA8005E}"/>
              </a:ext>
            </a:extLst>
          </p:cNvPr>
          <p:cNvSpPr>
            <a:spLocks noGrp="1"/>
          </p:cNvSpPr>
          <p:nvPr/>
        </p:nvSpPr>
        <p:spPr>
          <a:xfrm>
            <a:off x="1143000" y="5219700"/>
            <a:ext cx="16573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05" b="0">
                <a:solidFill>
                  <a:srgbClr val="9EB3BB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9EB3BB"/>
                </a:solidFill>
                <a:latin typeface="Aptos"/>
                <a:ea typeface="Aptos"/>
                <a:cs typeface="Aptos"/>
              </a:rPr>
              <a:t>Orientación y desplazamiento en entornos tridimensionales amplios o astronómicos.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0FDF14E-3F5D-4EEF-80CE-5E7E6F17EA36}"/>
              </a:ext>
            </a:extLst>
          </p:cNvPr>
          <p:cNvSpPr>
            <a:spLocks noGrp="1"/>
          </p:cNvSpPr>
          <p:nvPr/>
        </p:nvSpPr>
        <p:spPr>
          <a:xfrm>
            <a:off x="3352800" y="4762500"/>
            <a:ext cx="2457450" cy="1123950"/>
          </a:xfrm>
          <a:prstGeom prst="rect">
            <a:avLst/>
          </a:prstGeom>
          <a:solidFill>
            <a:srgbClr val="0D1B22"/>
          </a:solidFill>
          <a:ln w="9525">
            <a:solidFill>
              <a:srgbClr val="24434D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686F4F3-5DB3-4437-90D7-71436E5F792A}"/>
              </a:ext>
            </a:extLst>
          </p:cNvPr>
          <p:cNvSpPr>
            <a:spLocks noGrp="1"/>
          </p:cNvSpPr>
          <p:nvPr/>
        </p:nvSpPr>
        <p:spPr>
          <a:xfrm>
            <a:off x="3352800" y="4762500"/>
            <a:ext cx="47625" cy="1123950"/>
          </a:xfrm>
          <a:prstGeom prst="rect">
            <a:avLst/>
          </a:prstGeom>
          <a:solidFill>
            <a:srgbClr val="60A5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7FB098A-93CA-4AAA-81A7-17D1E44FAC1F}"/>
              </a:ext>
            </a:extLst>
          </p:cNvPr>
          <p:cNvSpPr>
            <a:spLocks noGrp="1"/>
          </p:cNvSpPr>
          <p:nvPr/>
        </p:nvSpPr>
        <p:spPr>
          <a:xfrm>
            <a:off x="3505200" y="4905375"/>
            <a:ext cx="3619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60A5FA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60A5FA"/>
                </a:solidFill>
                <a:latin typeface="Aptos Display"/>
                <a:ea typeface="Aptos Display"/>
                <a:cs typeface="Aptos Display"/>
              </a:rPr>
              <a:t>11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2C707328-8930-4322-8FC8-DDB95A78FD12}"/>
              </a:ext>
            </a:extLst>
          </p:cNvPr>
          <p:cNvSpPr>
            <a:spLocks noGrp="1"/>
          </p:cNvSpPr>
          <p:nvPr/>
        </p:nvSpPr>
        <p:spPr>
          <a:xfrm>
            <a:off x="3943350" y="5219700"/>
            <a:ext cx="16573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05" b="0">
                <a:solidFill>
                  <a:srgbClr val="9EB3BB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9EB3BB"/>
                </a:solidFill>
                <a:latin typeface="Aptos"/>
                <a:ea typeface="Aptos"/>
                <a:cs typeface="Aptos"/>
              </a:rPr>
              <a:t>Capa digital que se superpone al mundo físico para enriquecer percepción y tareas.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C5A78E7-31E6-4741-A798-F0E9F555622F}"/>
              </a:ext>
            </a:extLst>
          </p:cNvPr>
          <p:cNvSpPr>
            <a:spLocks noGrp="1"/>
          </p:cNvSpPr>
          <p:nvPr/>
        </p:nvSpPr>
        <p:spPr>
          <a:xfrm>
            <a:off x="6153150" y="4762500"/>
            <a:ext cx="2457450" cy="1123950"/>
          </a:xfrm>
          <a:prstGeom prst="rect">
            <a:avLst/>
          </a:prstGeom>
          <a:solidFill>
            <a:srgbClr val="0D1B22"/>
          </a:solidFill>
          <a:ln w="9525">
            <a:solidFill>
              <a:srgbClr val="24434D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D781CBA-3054-4A41-A4FA-25430DBAFF6A}"/>
              </a:ext>
            </a:extLst>
          </p:cNvPr>
          <p:cNvSpPr>
            <a:spLocks noGrp="1"/>
          </p:cNvSpPr>
          <p:nvPr/>
        </p:nvSpPr>
        <p:spPr>
          <a:xfrm>
            <a:off x="6153150" y="4762500"/>
            <a:ext cx="47625" cy="1123950"/>
          </a:xfrm>
          <a:prstGeom prst="rect">
            <a:avLst/>
          </a:prstGeom>
          <a:solidFill>
            <a:srgbClr val="FB718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5B1491A8-26B4-4215-8438-5D18395DF538}"/>
              </a:ext>
            </a:extLst>
          </p:cNvPr>
          <p:cNvSpPr>
            <a:spLocks noGrp="1"/>
          </p:cNvSpPr>
          <p:nvPr/>
        </p:nvSpPr>
        <p:spPr>
          <a:xfrm>
            <a:off x="6305550" y="4905375"/>
            <a:ext cx="3619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B7185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B7185"/>
                </a:solidFill>
                <a:latin typeface="Aptos Display"/>
                <a:ea typeface="Aptos Display"/>
                <a:cs typeface="Aptos Display"/>
              </a:rPr>
              <a:t>12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01B1A20-DD2A-480B-8DEB-2651E388A979}"/>
              </a:ext>
            </a:extLst>
          </p:cNvPr>
          <p:cNvSpPr>
            <a:spLocks noGrp="1"/>
          </p:cNvSpPr>
          <p:nvPr/>
        </p:nvSpPr>
        <p:spPr>
          <a:xfrm>
            <a:off x="6743700" y="4895850"/>
            <a:ext cx="1657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1">
                <a:solidFill>
                  <a:srgbClr val="F4FAFB"/>
                </a:solidFill>
                <a:latin typeface="Aptos"/>
                <a:ea typeface="Aptos"/>
                <a:cs typeface="Aptos"/>
              </a:defRPr>
            </a:pPr>
            <a:r>
              <a:rPr sz="1013" b="1" dirty="0">
                <a:solidFill>
                  <a:srgbClr val="F4FAFB"/>
                </a:solidFill>
                <a:latin typeface="Aptos"/>
                <a:ea typeface="Aptos"/>
                <a:cs typeface="Aptos"/>
              </a:rPr>
              <a:t>Sonido 3D / Tele </a:t>
            </a:r>
            <a:r>
              <a:rPr sz="1013" b="1" dirty="0" err="1">
                <a:solidFill>
                  <a:srgbClr val="F4FAFB"/>
                </a:solidFill>
                <a:latin typeface="Aptos"/>
                <a:ea typeface="Aptos"/>
                <a:cs typeface="Aptos"/>
              </a:rPr>
              <a:t>inmersión</a:t>
            </a:r>
            <a:endParaRPr sz="1013" b="1" dirty="0">
              <a:solidFill>
                <a:srgbClr val="F4FAF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7EFB95E0-9D90-490F-9A68-3C7EA36F8D05}"/>
              </a:ext>
            </a:extLst>
          </p:cNvPr>
          <p:cNvSpPr>
            <a:spLocks noGrp="1"/>
          </p:cNvSpPr>
          <p:nvPr/>
        </p:nvSpPr>
        <p:spPr>
          <a:xfrm>
            <a:off x="6743700" y="5219700"/>
            <a:ext cx="16573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05" b="0">
                <a:solidFill>
                  <a:srgbClr val="9EB3BB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9EB3BB"/>
                </a:solidFill>
                <a:latin typeface="Aptos"/>
                <a:ea typeface="Aptos"/>
                <a:cs typeface="Aptos"/>
              </a:rPr>
              <a:t>Audio posicional y presencia remota que hacen sentir objetos y personas a distancia.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11D003C6-AB39-4778-B064-04DB596266FB}"/>
              </a:ext>
            </a:extLst>
          </p:cNvPr>
          <p:cNvSpPr>
            <a:spLocks noGrp="1"/>
          </p:cNvSpPr>
          <p:nvPr/>
        </p:nvSpPr>
        <p:spPr>
          <a:xfrm>
            <a:off x="8953500" y="4762500"/>
            <a:ext cx="2457450" cy="1123950"/>
          </a:xfrm>
          <a:prstGeom prst="rect">
            <a:avLst/>
          </a:prstGeom>
          <a:solidFill>
            <a:srgbClr val="0D1B22"/>
          </a:solidFill>
          <a:ln w="9525">
            <a:solidFill>
              <a:srgbClr val="24434D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FC9AE709-3F18-4990-B5A2-5BFCE9E75EF0}"/>
              </a:ext>
            </a:extLst>
          </p:cNvPr>
          <p:cNvSpPr>
            <a:spLocks noGrp="1"/>
          </p:cNvSpPr>
          <p:nvPr/>
        </p:nvSpPr>
        <p:spPr>
          <a:xfrm>
            <a:off x="8953500" y="4762500"/>
            <a:ext cx="47625" cy="1123950"/>
          </a:xfrm>
          <a:prstGeom prst="rect">
            <a:avLst/>
          </a:prstGeom>
          <a:solidFill>
            <a:srgbClr val="FBBF2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22C514C8-93D0-4DE0-A51C-FDA2CF9A8144}"/>
              </a:ext>
            </a:extLst>
          </p:cNvPr>
          <p:cNvSpPr>
            <a:spLocks noGrp="1"/>
          </p:cNvSpPr>
          <p:nvPr/>
        </p:nvSpPr>
        <p:spPr>
          <a:xfrm>
            <a:off x="9105900" y="4905375"/>
            <a:ext cx="3619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BBF24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BBF24"/>
                </a:solidFill>
                <a:latin typeface="Aptos Display"/>
                <a:ea typeface="Aptos Display"/>
                <a:cs typeface="Aptos Display"/>
              </a:rPr>
              <a:t>13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BFFB307D-CD00-47E2-BF25-D4E4DF9A2699}"/>
              </a:ext>
            </a:extLst>
          </p:cNvPr>
          <p:cNvSpPr>
            <a:spLocks noGrp="1"/>
          </p:cNvSpPr>
          <p:nvPr/>
        </p:nvSpPr>
        <p:spPr>
          <a:xfrm>
            <a:off x="12627331" y="3611881"/>
            <a:ext cx="478974" cy="45719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1">
                <a:solidFill>
                  <a:srgbClr val="F4FAFB"/>
                </a:solidFill>
                <a:latin typeface="Aptos"/>
                <a:ea typeface="Aptos"/>
                <a:cs typeface="Aptos"/>
              </a:defRPr>
            </a:pPr>
            <a:r>
              <a:rPr sz="1013" b="1" dirty="0">
                <a:solidFill>
                  <a:srgbClr val="F4FAFB"/>
                </a:solidFill>
                <a:latin typeface="Aptos"/>
                <a:ea typeface="Aptos"/>
                <a:cs typeface="Aptos"/>
              </a:rPr>
              <a:t>HMD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6BAFA2D-3B69-48EC-9BD4-F18D9785B9D2}"/>
              </a:ext>
            </a:extLst>
          </p:cNvPr>
          <p:cNvSpPr>
            <a:spLocks noGrp="1"/>
          </p:cNvSpPr>
          <p:nvPr/>
        </p:nvSpPr>
        <p:spPr>
          <a:xfrm>
            <a:off x="9544050" y="5219700"/>
            <a:ext cx="16573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05" b="0">
                <a:solidFill>
                  <a:srgbClr val="9EB3BB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9EB3BB"/>
                </a:solidFill>
                <a:latin typeface="Aptos"/>
                <a:ea typeface="Aptos"/>
                <a:cs typeface="Aptos"/>
              </a:rPr>
              <a:t>Head-Mounted Display: pantalla montada en la cabeza para ver escenas inmersivas.</a:t>
            </a:r>
          </a:p>
        </p:txBody>
      </p:sp>
      <p:pic>
        <p:nvPicPr>
          <p:cNvPr id="5122" name="Picture 2" descr="Personas que utilizan la realidad virtual para viajar a través del universo  o el océano. Simulación">
            <a:extLst>
              <a:ext uri="{FF2B5EF4-FFF2-40B4-BE49-F238E27FC236}">
                <a16:creationId xmlns:a16="http://schemas.microsoft.com/office/drawing/2014/main" id="{DAD54B7E-5ED6-1E30-0729-CFD468AF61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072" y="2718009"/>
            <a:ext cx="2362103" cy="14753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Qué es la Realidad Aumentada? - Onirix">
            <a:extLst>
              <a:ext uri="{FF2B5EF4-FFF2-40B4-BE49-F238E27FC236}">
                <a16:creationId xmlns:a16="http://schemas.microsoft.com/office/drawing/2014/main" id="{CC0EED98-22D2-5B83-C888-1A031CB551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0410" y="2697480"/>
            <a:ext cx="2672715" cy="14773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 descr="El sonido espacial 3D, la siguiente revolución del videojuego, es invisible  a los ojos, pero te">
            <a:extLst>
              <a:ext uri="{FF2B5EF4-FFF2-40B4-BE49-F238E27FC236}">
                <a16:creationId xmlns:a16="http://schemas.microsoft.com/office/drawing/2014/main" id="{4428332D-671C-BEEA-C059-89E3663324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9349" y="2574546"/>
            <a:ext cx="2709863" cy="1522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8" name="Picture 8" descr="Pantalla montada en la cabeza: funciones y áreas de aplicación 🕶 - ALEGER">
            <a:extLst>
              <a:ext uri="{FF2B5EF4-FFF2-40B4-BE49-F238E27FC236}">
                <a16:creationId xmlns:a16="http://schemas.microsoft.com/office/drawing/2014/main" id="{967F06CA-C8E4-F2F5-3ACD-24779550AB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5900" y="2745086"/>
            <a:ext cx="2752725" cy="11506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7022356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357</Words>
  <Application>Microsoft Office PowerPoint</Application>
  <DocSecurity>0</DocSecurity>
  <PresentationFormat>Widescreen</PresentationFormat>
  <Paragraphs>67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Sergio Esteban Alanis Pacheco</cp:lastModifiedBy>
  <cp:revision>2</cp:revision>
  <dcterms:created xsi:type="dcterms:W3CDTF">2026-05-12T22:33:37Z</dcterms:created>
  <dcterms:modified xsi:type="dcterms:W3CDTF">2026-05-12T22:51:54Z</dcterms:modified>
</cp:coreProperties>
</file>